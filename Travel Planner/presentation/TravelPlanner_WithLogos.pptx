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Travel Planner web application presentation. This project is built using React, Firebase, Google Gemini AI, and RapidAPI, combining modern technologies to deliver a comprehensive travel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Travel Planner is a comprehensive React-based SPA that eliminates the need for multiple travel apps. Users can search real-time flights via RapidAPI, explore curated destinations, generate AI-powered itineraries with Google Gemini, and manage all their trips through a personal Firebase-backed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core features highlight what makes Travel Planner distinctive: Gemini AI for natural-language trip planning, live flight data from RapidAPI, an AI-powered destination explorer, real-time Firestore persistence, secure Firebase Auth with protected routes, and a unified personal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page is the entry point. It features a full-screen hero with a destination search bar, four feature cards for quick navigation, trending destination previews, and a live flights section that calls the RapidAPI flights-sky API. It degrades gracefully with mock data if no API key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authentication pages are public (no ProtectedRoute wrapper). They share the same visual identity with a full-screen travel background and animated plane. Formik + Yup handles client-side validation while Firebase Auth handles server-side identity. Tokens are persisted in localStorage for route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Flights page is the most feature-rich page. It uses debounced autocomplete against the RapidAPI flights-sky auto-complete endpoint, then queries the search-one-way or search-round-trip endpoint. Results are filterable and sortable client-side. Framer Motion powers the animated card expansions. Saving and booking write to Firestore.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Destinations page has three major areas: Countries (browse + filter + wishlist), AI Explore (Gemini-powered natural language search), and the destination detail view (hotels, landmarks, booking, and AI itinerary generation). It's the most content-rich page in the app and uses both local preloaded data and live Gemini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Planner Workspace (/planner) hosts both the AI Planner Section and the Manual Planner Section as two sub-components. The AI section calls the Google Gemini 2.5 Flash API with a structured prompt asking for JSON output. Both plan types are saved to Firestore and counted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provides a comprehensive travel overview with live Firestore listeners for real-time counts and lists. The sidebar mirrors the app's navigation structure. The Profile page uses Firebase Auth's onAuthStateChanged to display user metadata and uses the TripsContext to calculate spend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Travel Planner has four distinct trip management pages. Booked Trips and Saved Flights both read from Firestore with Auth-scoped queries. Past Trips filters the bookedTrips collection by comparing departure dates to today. Trips Workspace provides reusable TripCard and FlightCard components for modular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workflow shows how the React SPA acts as the central hub. Firebase Auth secures all non-public routes. Firestore serves as the persistent data layer with real-time listeners. External API calls go to Google Gemini for AI features and RapidAPI flights-sky for live flight data. There is no custom backend — the app is fully client-side using BaaS.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stack is entirely serverless — React + Vite on the frontend, Firebase for BaaS (auth + database), Google Gemini for AI, and RapidAPI for flight data. No Node.js/Express backend exists. State is managed via React Context API for auth and trips. Form handling uses Formik + Yup.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Travel Planner app successfully delivers a unified travel experience. Its strongest achievement is the seamless combination of live API data, AI generation, and persistent cloud storage without any custom server infrastructure. Future improvements could expand it into a full travel super-app.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our presentation of Travel Planner. This project was developed as a graduation project demonstrating the integration of modern frontend technologies, AI APIs, and real-time cloud services to build a production-quality travel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tc_logo.png"/><Relationship Id="rId5" Type="http://schemas.openxmlformats.org/officeDocument/2006/relationships/image" Target="../media/rawaad_logo.jpe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1565C0">
              <a:alpha val="30000"/>
            </a:srgbClr>
          </a:solidFill>
          <a:ln w="12700">
            <a:solidFill>
              <a:srgbClr val="1565C0">
                <a:alpha val="30000"/>
              </a:srgbClr>
            </a:solidFill>
            <a:prstDash val="solid"/>
          </a:ln>
        </p:spPr>
      </p:sp>
      <p:sp>
        <p:nvSpPr>
          <p:cNvPr id="3" name="Shape 1"/>
          <p:cNvSpPr/>
          <p:nvPr/>
        </p:nvSpPr>
        <p:spPr>
          <a:xfrm>
            <a:off x="6858000" y="2286000"/>
            <a:ext cx="4572000" cy="4572000"/>
          </a:xfrm>
          <a:prstGeom prst="ellipse">
            <a:avLst/>
          </a:prstGeom>
          <a:solidFill>
            <a:srgbClr val="1E88E5">
              <a:alpha val="25000"/>
            </a:srgbClr>
          </a:solidFill>
          <a:ln w="12700">
            <a:solidFill>
              <a:srgbClr val="1E88E5">
                <a:alpha val="25000"/>
              </a:srgbClr>
            </a:solidFill>
            <a:prstDash val="solid"/>
          </a:ln>
        </p:spPr>
      </p:sp>
      <p:pic>
        <p:nvPicPr>
          <p:cNvPr id="4" name="Image 0" descr="preencoded.png"/>
          <p:cNvPicPr>
            <a:picLocks noChangeAspect="1"/>
          </p:cNvPicPr>
          <p:nvPr/>
        </p:nvPicPr>
        <p:blipFill>
          <a:blip r:embed="rId1"/>
          <a:stretch>
            <a:fillRect/>
          </a:stretch>
        </p:blipFill>
        <p:spPr>
          <a:xfrm>
            <a:off x="3931920" y="365760"/>
            <a:ext cx="1097280" cy="1097280"/>
          </a:xfrm>
          <a:prstGeom prst="rect">
            <a:avLst/>
          </a:prstGeom>
        </p:spPr>
      </p:pic>
      <p:sp>
        <p:nvSpPr>
          <p:cNvPr id="5" name="Text 2"/>
          <p:cNvSpPr/>
          <p:nvPr/>
        </p:nvSpPr>
        <p:spPr>
          <a:xfrm>
            <a:off x="731520" y="1554480"/>
            <a:ext cx="7680960" cy="914400"/>
          </a:xfrm>
          <a:prstGeom prst="rect">
            <a:avLst/>
          </a:prstGeom>
          <a:noFill/>
          <a:ln/>
        </p:spPr>
        <p:txBody>
          <a:bodyPr wrap="square" rtlCol="0" anchor="ctr"/>
          <a:lstStyle/>
          <a:p>
            <a:pPr algn="ctr" indent="0" marL="0">
              <a:buNone/>
            </a:pPr>
            <a:r>
              <a:rPr lang="en-US" sz="4800" b="1" spc="400" kern="0" dirty="0">
                <a:solidFill>
                  <a:srgbClr val="FFFFFF"/>
                </a:solidFill>
                <a:latin typeface="Cambria" pitchFamily="34" charset="0"/>
                <a:ea typeface="Cambria" pitchFamily="34" charset="-122"/>
                <a:cs typeface="Cambria" pitchFamily="34" charset="-120"/>
              </a:rPr>
              <a:t>TRAVEL PLANNER</a:t>
            </a:r>
            <a:endParaRPr lang="en-US" sz="4800" dirty="0"/>
          </a:p>
        </p:txBody>
      </p:sp>
      <p:sp>
        <p:nvSpPr>
          <p:cNvPr id="6" name="Text 3"/>
          <p:cNvSpPr/>
          <p:nvPr/>
        </p:nvSpPr>
        <p:spPr>
          <a:xfrm>
            <a:off x="731520" y="2606040"/>
            <a:ext cx="7680960" cy="548640"/>
          </a:xfrm>
          <a:prstGeom prst="rect">
            <a:avLst/>
          </a:prstGeom>
          <a:noFill/>
          <a:ln/>
        </p:spPr>
        <p:txBody>
          <a:bodyPr wrap="square" rtlCol="0" anchor="ctr"/>
          <a:lstStyle/>
          <a:p>
            <a:pPr algn="ctr" indent="0" marL="0">
              <a:buNone/>
            </a:pPr>
            <a:r>
              <a:rPr lang="en-US" sz="2000" i="1" dirty="0">
                <a:solidFill>
                  <a:srgbClr val="FF8F00"/>
                </a:solidFill>
                <a:latin typeface="Calibri" pitchFamily="34" charset="0"/>
                <a:ea typeface="Calibri" pitchFamily="34" charset="-122"/>
                <a:cs typeface="Calibri" pitchFamily="34" charset="-120"/>
              </a:rPr>
              <a:t>Web Application Presentation</a:t>
            </a:r>
            <a:endParaRPr lang="en-US" sz="2000" dirty="0"/>
          </a:p>
        </p:txBody>
      </p:sp>
      <p:sp>
        <p:nvSpPr>
          <p:cNvPr id="7" name="Shape 4"/>
          <p:cNvSpPr/>
          <p:nvPr/>
        </p:nvSpPr>
        <p:spPr>
          <a:xfrm>
            <a:off x="3566160" y="3291840"/>
            <a:ext cx="137160" cy="137160"/>
          </a:xfrm>
          <a:prstGeom prst="ellipse">
            <a:avLst/>
          </a:prstGeom>
          <a:solidFill>
            <a:srgbClr val="1E88E5"/>
          </a:solidFill>
          <a:ln w="12700">
            <a:solidFill>
              <a:srgbClr val="1E88E5"/>
            </a:solidFill>
            <a:prstDash val="solid"/>
          </a:ln>
        </p:spPr>
      </p:sp>
      <p:sp>
        <p:nvSpPr>
          <p:cNvPr id="8" name="Shape 5"/>
          <p:cNvSpPr/>
          <p:nvPr/>
        </p:nvSpPr>
        <p:spPr>
          <a:xfrm>
            <a:off x="4480560" y="3291840"/>
            <a:ext cx="137160" cy="137160"/>
          </a:xfrm>
          <a:prstGeom prst="ellipse">
            <a:avLst/>
          </a:prstGeom>
          <a:solidFill>
            <a:srgbClr val="FF8F00"/>
          </a:solidFill>
          <a:ln w="12700">
            <a:solidFill>
              <a:srgbClr val="FF8F00"/>
            </a:solidFill>
            <a:prstDash val="solid"/>
          </a:ln>
        </p:spPr>
      </p:sp>
      <p:sp>
        <p:nvSpPr>
          <p:cNvPr id="9" name="Shape 6"/>
          <p:cNvSpPr/>
          <p:nvPr/>
        </p:nvSpPr>
        <p:spPr>
          <a:xfrm>
            <a:off x="5394960" y="3291840"/>
            <a:ext cx="137160" cy="137160"/>
          </a:xfrm>
          <a:prstGeom prst="ellipse">
            <a:avLst/>
          </a:prstGeom>
          <a:solidFill>
            <a:srgbClr val="00897B"/>
          </a:solidFill>
          <a:ln w="12700">
            <a:solidFill>
              <a:srgbClr val="00897B"/>
            </a:solidFill>
            <a:prstDash val="solid"/>
          </a:ln>
        </p:spPr>
      </p:sp>
      <p:sp>
        <p:nvSpPr>
          <p:cNvPr id="10" name="Text 7"/>
          <p:cNvSpPr/>
          <p:nvPr/>
        </p:nvSpPr>
        <p:spPr>
          <a:xfrm>
            <a:off x="731520" y="3611880"/>
            <a:ext cx="7680960" cy="457200"/>
          </a:xfrm>
          <a:prstGeom prst="rect">
            <a:avLst/>
          </a:prstGeom>
          <a:noFill/>
          <a:ln/>
        </p:spPr>
        <p:txBody>
          <a:bodyPr wrap="square" rtlCol="0" anchor="ctr"/>
          <a:lstStyle/>
          <a:p>
            <a:pPr algn="ctr" indent="0" marL="0">
              <a:buNone/>
            </a:pPr>
            <a:r>
              <a:rPr lang="en-US" sz="1400" dirty="0">
                <a:solidFill>
                  <a:srgbClr val="78909C"/>
                </a:solidFill>
                <a:latin typeface="Calibri" pitchFamily="34" charset="0"/>
                <a:ea typeface="Calibri" pitchFamily="34" charset="-122"/>
                <a:cs typeface="Calibri" pitchFamily="34" charset="-120"/>
              </a:rPr>
              <a:t>React  •  Gemini AI  •  RapidAPI (flights-sky)</a:t>
            </a:r>
            <a:endParaRPr lang="en-US" sz="1400" dirty="0"/>
          </a:p>
        </p:txBody>
      </p:sp>
      <p:pic>
        <p:nvPicPr>
          <p:cNvPr id="11" name="ITC_Logo"/>
          <p:cNvPicPr>
            <a:picLocks noChangeAspect="1"/>
          </p:cNvPicPr>
          <p:nvPr/>
        </p:nvPicPr>
        <p:blipFill>
          <a:blip r:embed="rId4"/>
          <a:stretch>
            <a:fillRect/>
          </a:stretch>
        </p:blipFill>
        <p:spPr>
          <a:xfrm>
            <a:off x="304800" y="304800"/>
            <a:ext cx="685800" cy="685800"/>
          </a:xfrm>
          <a:prstGeom prst="rect">
            <a:avLst/>
          </a:prstGeom>
        </p:spPr>
      </p:pic>
      <p:pic>
        <p:nvPicPr>
          <p:cNvPr id="12" name="Rawaad_Logo"/>
          <p:cNvPicPr>
            <a:picLocks noChangeAspect="1"/>
          </p:cNvPicPr>
          <p:nvPr/>
        </p:nvPicPr>
        <p:blipFill>
          <a:blip r:embed="rId5"/>
          <a:stretch>
            <a:fillRect/>
          </a:stretch>
        </p:blipFill>
        <p:spPr>
          <a:xfrm>
            <a:off x="8229600" y="304800"/>
            <a:ext cx="6858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0D2B4E"/>
                </a:solidFill>
                <a:latin typeface="Cambria" pitchFamily="34" charset="0"/>
                <a:ea typeface="Cambria" pitchFamily="34" charset="-122"/>
                <a:cs typeface="Cambria" pitchFamily="34" charset="-120"/>
              </a:rPr>
              <a:t>Project Description</a:t>
            </a:r>
            <a:endParaRPr lang="en-US" sz="3200" dirty="0"/>
          </a:p>
        </p:txBody>
      </p:sp>
      <p:sp>
        <p:nvSpPr>
          <p:cNvPr id="3" name="Shape 1"/>
          <p:cNvSpPr/>
          <p:nvPr/>
        </p:nvSpPr>
        <p:spPr>
          <a:xfrm>
            <a:off x="457200" y="914400"/>
            <a:ext cx="8229600" cy="3840480"/>
          </a:xfrm>
          <a:prstGeom prst="roundRect">
            <a:avLst>
              <a:gd name="adj" fmla="val 2857"/>
            </a:avLst>
          </a:prstGeom>
          <a:solidFill>
            <a:srgbClr val="FFFFFF"/>
          </a:solidFill>
          <a:ln/>
          <a:effectLst>
            <a:outerShdw sx="100000" sy="100000" kx="0" ky="0" algn="bl" rotWithShape="0" blurRad="101600" dist="38100" dir="2700000">
              <a:srgbClr val="000000">
                <a:alpha val="12000"/>
              </a:srgbClr>
            </a:outerShdw>
          </a:effectLst>
        </p:spPr>
      </p:sp>
      <p:sp>
        <p:nvSpPr>
          <p:cNvPr id="4" name="Text 2"/>
          <p:cNvSpPr/>
          <p:nvPr/>
        </p:nvSpPr>
        <p:spPr>
          <a:xfrm>
            <a:off x="685800" y="1051560"/>
            <a:ext cx="3749040" cy="320040"/>
          </a:xfrm>
          <a:prstGeom prst="rect">
            <a:avLst/>
          </a:prstGeom>
          <a:noFill/>
          <a:ln/>
        </p:spPr>
        <p:txBody>
          <a:bodyPr wrap="square"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What It Is</a:t>
            </a:r>
            <a:endParaRPr lang="en-US" sz="1300" dirty="0"/>
          </a:p>
        </p:txBody>
      </p:sp>
      <p:sp>
        <p:nvSpPr>
          <p:cNvPr id="5" name="Text 3"/>
          <p:cNvSpPr/>
          <p:nvPr/>
        </p:nvSpPr>
        <p:spPr>
          <a:xfrm>
            <a:off x="685800" y="1389888"/>
            <a:ext cx="3749040" cy="594360"/>
          </a:xfrm>
          <a:prstGeom prst="rect">
            <a:avLst/>
          </a:prstGeom>
          <a:noFill/>
          <a:ln/>
        </p:spPr>
        <p:txBody>
          <a:bodyPr wrap="square" rtlCol="0" anchor="ctr"/>
          <a:lstStyle/>
          <a:p>
            <a:pPr indent="0" marL="0">
              <a:buNone/>
            </a:pPr>
            <a:r>
              <a:rPr lang="en-US" sz="1150" dirty="0">
                <a:solidFill>
                  <a:srgbClr val="37474F"/>
                </a:solidFill>
                <a:latin typeface="Calibri" pitchFamily="34" charset="0"/>
                <a:ea typeface="Calibri" pitchFamily="34" charset="-122"/>
                <a:cs typeface="Calibri" pitchFamily="34" charset="-120"/>
              </a:rPr>
              <a:t>A frontend travel planning web application built with React that brings flights, destinations, and AI trip planning into one unified platform.</a:t>
            </a:r>
            <a:endParaRPr lang="en-US" sz="1150" dirty="0"/>
          </a:p>
        </p:txBody>
      </p:sp>
      <p:sp>
        <p:nvSpPr>
          <p:cNvPr id="6" name="Text 4"/>
          <p:cNvSpPr/>
          <p:nvPr/>
        </p:nvSpPr>
        <p:spPr>
          <a:xfrm>
            <a:off x="685800" y="2057400"/>
            <a:ext cx="3749040" cy="320040"/>
          </a:xfrm>
          <a:prstGeom prst="rect">
            <a:avLst/>
          </a:prstGeom>
          <a:noFill/>
          <a:ln/>
        </p:spPr>
        <p:txBody>
          <a:bodyPr wrap="square"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Problem It Solves</a:t>
            </a:r>
            <a:endParaRPr lang="en-US" sz="1300" dirty="0"/>
          </a:p>
        </p:txBody>
      </p:sp>
      <p:sp>
        <p:nvSpPr>
          <p:cNvPr id="7" name="Text 5"/>
          <p:cNvSpPr/>
          <p:nvPr/>
        </p:nvSpPr>
        <p:spPr>
          <a:xfrm>
            <a:off x="685800" y="2395728"/>
            <a:ext cx="3749040" cy="594360"/>
          </a:xfrm>
          <a:prstGeom prst="rect">
            <a:avLst/>
          </a:prstGeom>
          <a:noFill/>
          <a:ln/>
        </p:spPr>
        <p:txBody>
          <a:bodyPr wrap="square" rtlCol="0" anchor="ctr"/>
          <a:lstStyle/>
          <a:p>
            <a:pPr indent="0" marL="0">
              <a:buNone/>
            </a:pPr>
            <a:r>
              <a:rPr lang="en-US" sz="1150" dirty="0">
                <a:solidFill>
                  <a:srgbClr val="37474F"/>
                </a:solidFill>
                <a:latin typeface="Calibri" pitchFamily="34" charset="0"/>
                <a:ea typeface="Calibri" pitchFamily="34" charset="-122"/>
                <a:cs typeface="Calibri" pitchFamily="34" charset="-120"/>
              </a:rPr>
              <a:t>Planning travel typically requires juggling multiple apps. Travel Planner unifies flight search, destination discovery, and AI recommendations in one place.</a:t>
            </a:r>
            <a:endParaRPr lang="en-US" sz="1150" dirty="0"/>
          </a:p>
        </p:txBody>
      </p:sp>
      <p:sp>
        <p:nvSpPr>
          <p:cNvPr id="8" name="Text 6"/>
          <p:cNvSpPr/>
          <p:nvPr/>
        </p:nvSpPr>
        <p:spPr>
          <a:xfrm>
            <a:off x="685800" y="3063240"/>
            <a:ext cx="3749040" cy="320040"/>
          </a:xfrm>
          <a:prstGeom prst="rect">
            <a:avLst/>
          </a:prstGeom>
          <a:noFill/>
          <a:ln/>
        </p:spPr>
        <p:txBody>
          <a:bodyPr wrap="square"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Target Users</a:t>
            </a:r>
            <a:endParaRPr lang="en-US" sz="1300" dirty="0"/>
          </a:p>
        </p:txBody>
      </p:sp>
      <p:sp>
        <p:nvSpPr>
          <p:cNvPr id="9" name="Text 7"/>
          <p:cNvSpPr/>
          <p:nvPr/>
        </p:nvSpPr>
        <p:spPr>
          <a:xfrm>
            <a:off x="685800" y="3401568"/>
            <a:ext cx="3749040" cy="594360"/>
          </a:xfrm>
          <a:prstGeom prst="rect">
            <a:avLst/>
          </a:prstGeom>
          <a:noFill/>
          <a:ln/>
        </p:spPr>
        <p:txBody>
          <a:bodyPr wrap="square" rtlCol="0" anchor="ctr"/>
          <a:lstStyle/>
          <a:p>
            <a:pPr indent="0" marL="0">
              <a:buNone/>
            </a:pPr>
            <a:r>
              <a:rPr lang="en-US" sz="1150" dirty="0">
                <a:solidFill>
                  <a:srgbClr val="37474F"/>
                </a:solidFill>
                <a:latin typeface="Calibri" pitchFamily="34" charset="0"/>
                <a:ea typeface="Calibri" pitchFamily="34" charset="-122"/>
                <a:cs typeface="Calibri" pitchFamily="34" charset="-120"/>
              </a:rPr>
              <a:t>Frequent travelers, vacation planners, and anyone seeking an intelligent, personalized trip-planning experience.</a:t>
            </a:r>
            <a:endParaRPr lang="en-US" sz="1150" dirty="0"/>
          </a:p>
        </p:txBody>
      </p:sp>
      <p:sp>
        <p:nvSpPr>
          <p:cNvPr id="10" name="Text 8"/>
          <p:cNvSpPr/>
          <p:nvPr/>
        </p:nvSpPr>
        <p:spPr>
          <a:xfrm>
            <a:off x="4709160" y="1051560"/>
            <a:ext cx="3657600" cy="320040"/>
          </a:xfrm>
          <a:prstGeom prst="rect">
            <a:avLst/>
          </a:prstGeom>
          <a:noFill/>
          <a:ln/>
        </p:spPr>
        <p:txBody>
          <a:bodyPr wrap="square" rtlCol="0" anchor="ctr"/>
          <a:lstStyle/>
          <a:p>
            <a:pPr indent="0" marL="0">
              <a:buNone/>
            </a:pPr>
            <a:r>
              <a:rPr lang="en-US" sz="1300" b="1" dirty="0">
                <a:solidFill>
                  <a:srgbClr val="00897B"/>
                </a:solidFill>
                <a:latin typeface="Calibri" pitchFamily="34" charset="0"/>
                <a:ea typeface="Calibri" pitchFamily="34" charset="-122"/>
                <a:cs typeface="Calibri" pitchFamily="34" charset="-120"/>
              </a:rPr>
              <a:t>Objectives</a:t>
            </a:r>
            <a:endParaRPr lang="en-US" sz="1300" dirty="0"/>
          </a:p>
        </p:txBody>
      </p:sp>
      <p:sp>
        <p:nvSpPr>
          <p:cNvPr id="11" name="Text 9"/>
          <p:cNvSpPr/>
          <p:nvPr/>
        </p:nvSpPr>
        <p:spPr>
          <a:xfrm>
            <a:off x="4709160" y="1389888"/>
            <a:ext cx="3657600" cy="731520"/>
          </a:xfrm>
          <a:prstGeom prst="rect">
            <a:avLst/>
          </a:prstGeom>
          <a:noFill/>
          <a:ln/>
        </p:spPr>
        <p:txBody>
          <a:bodyPr wrap="square" rtlCol="0" anchor="ctr"/>
          <a:lstStyle/>
          <a:p>
            <a:pPr indent="0" marL="0">
              <a:buNone/>
            </a:pPr>
            <a:r>
              <a:rPr lang="en-US" sz="1150" dirty="0">
                <a:solidFill>
                  <a:srgbClr val="37474F"/>
                </a:solidFill>
                <a:latin typeface="Calibri" pitchFamily="34" charset="0"/>
                <a:ea typeface="Calibri" pitchFamily="34" charset="-122"/>
                <a:cs typeface="Calibri" pitchFamily="34" charset="-120"/>
              </a:rPr>
              <a:t>Provide real-time flight data via RapidAPI flights-sky (one-way search), AI-powered itinerary generation via Gemini, and destination exploration — all in a React frontend.</a:t>
            </a:r>
            <a:endParaRPr lang="en-US" sz="1150" dirty="0"/>
          </a:p>
        </p:txBody>
      </p:sp>
      <p:sp>
        <p:nvSpPr>
          <p:cNvPr id="12" name="Text 10"/>
          <p:cNvSpPr/>
          <p:nvPr/>
        </p:nvSpPr>
        <p:spPr>
          <a:xfrm>
            <a:off x="4709160" y="2468880"/>
            <a:ext cx="3657600" cy="320040"/>
          </a:xfrm>
          <a:prstGeom prst="rect">
            <a:avLst/>
          </a:prstGeom>
          <a:noFill/>
          <a:ln/>
        </p:spPr>
        <p:txBody>
          <a:bodyPr wrap="square" rtlCol="0" anchor="ctr"/>
          <a:lstStyle/>
          <a:p>
            <a:pPr indent="0" marL="0">
              <a:buNone/>
            </a:pPr>
            <a:r>
              <a:rPr lang="en-US" sz="1300" b="1" dirty="0">
                <a:solidFill>
                  <a:srgbClr val="00897B"/>
                </a:solidFill>
                <a:latin typeface="Calibri" pitchFamily="34" charset="0"/>
                <a:ea typeface="Calibri" pitchFamily="34" charset="-122"/>
                <a:cs typeface="Calibri" pitchFamily="34" charset="-120"/>
              </a:rPr>
              <a:t>Why It's Useful</a:t>
            </a:r>
            <a:endParaRPr lang="en-US" sz="1300" dirty="0"/>
          </a:p>
        </p:txBody>
      </p:sp>
      <p:sp>
        <p:nvSpPr>
          <p:cNvPr id="13" name="Text 11"/>
          <p:cNvSpPr/>
          <p:nvPr/>
        </p:nvSpPr>
        <p:spPr>
          <a:xfrm>
            <a:off x="4709160" y="2807208"/>
            <a:ext cx="3657600" cy="731520"/>
          </a:xfrm>
          <a:prstGeom prst="rect">
            <a:avLst/>
          </a:prstGeom>
          <a:noFill/>
          <a:ln/>
        </p:spPr>
        <p:txBody>
          <a:bodyPr wrap="square" rtlCol="0" anchor="ctr"/>
          <a:lstStyle/>
          <a:p>
            <a:pPr indent="0" marL="0">
              <a:buNone/>
            </a:pPr>
            <a:r>
              <a:rPr lang="en-US" sz="1150" dirty="0">
                <a:solidFill>
                  <a:srgbClr val="37474F"/>
                </a:solidFill>
                <a:latin typeface="Calibri" pitchFamily="34" charset="0"/>
                <a:ea typeface="Calibri" pitchFamily="34" charset="-122"/>
                <a:cs typeface="Calibri" pitchFamily="34" charset="-120"/>
              </a:rPr>
              <a:t>Users get live one-way flight prices, Gemini AI destination recommendations, and a rich destination explorer — all within a single React app.</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B4E"/>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Core Features</a:t>
            </a:r>
            <a:endParaRPr lang="en-US" sz="3200" dirty="0"/>
          </a:p>
        </p:txBody>
      </p:sp>
      <p:sp>
        <p:nvSpPr>
          <p:cNvPr id="3" name="Text 1"/>
          <p:cNvSpPr/>
          <p:nvPr/>
        </p:nvSpPr>
        <p:spPr>
          <a:xfrm>
            <a:off x="457200" y="822960"/>
            <a:ext cx="8229600" cy="365760"/>
          </a:xfrm>
          <a:prstGeom prst="rect">
            <a:avLst/>
          </a:prstGeom>
          <a:noFill/>
          <a:ln/>
        </p:spPr>
        <p:txBody>
          <a:bodyPr wrap="square" rtlCol="0" anchor="ctr"/>
          <a:lstStyle/>
          <a:p>
            <a:pPr indent="0" marL="0">
              <a:buNone/>
            </a:pPr>
            <a:r>
              <a:rPr lang="en-US" sz="1400" i="1" dirty="0">
                <a:solidFill>
                  <a:srgbClr val="78909C"/>
                </a:solidFill>
                <a:latin typeface="Calibri" pitchFamily="34" charset="0"/>
                <a:ea typeface="Calibri" pitchFamily="34" charset="-122"/>
                <a:cs typeface="Calibri" pitchFamily="34" charset="-120"/>
              </a:rPr>
              <a:t>The standout capabilities that make this application unique</a:t>
            </a:r>
            <a:endParaRPr lang="en-US" sz="1400" dirty="0"/>
          </a:p>
        </p:txBody>
      </p:sp>
      <p:sp>
        <p:nvSpPr>
          <p:cNvPr id="4" name="Shape 2"/>
          <p:cNvSpPr/>
          <p:nvPr/>
        </p:nvSpPr>
        <p:spPr>
          <a:xfrm>
            <a:off x="411480" y="1325880"/>
            <a:ext cx="2560320" cy="1463040"/>
          </a:xfrm>
          <a:prstGeom prst="roundRect">
            <a:avLst>
              <a:gd name="adj" fmla="val 6250"/>
            </a:avLst>
          </a:prstGeom>
          <a:solidFill>
            <a:srgbClr val="1565C0"/>
          </a:solidFill>
          <a:ln/>
          <a:effectLst>
            <a:outerShdw sx="100000" sy="100000" kx="0" ky="0" algn="bl" rotWithShape="0" blurRad="101600" dist="38100" dir="2700000">
              <a:srgbClr val="000000">
                <a:alpha val="12000"/>
              </a:srgbClr>
            </a:outerShdw>
          </a:effectLst>
        </p:spPr>
      </p:sp>
      <p:pic>
        <p:nvPicPr>
          <p:cNvPr id="5" name="Image 0" descr="preencoded.png"/>
          <p:cNvPicPr>
            <a:picLocks noChangeAspect="1"/>
          </p:cNvPicPr>
          <p:nvPr/>
        </p:nvPicPr>
        <p:blipFill>
          <a:blip r:embed="rId1"/>
          <a:stretch>
            <a:fillRect/>
          </a:stretch>
        </p:blipFill>
        <p:spPr>
          <a:xfrm>
            <a:off x="548640" y="1490472"/>
            <a:ext cx="384048" cy="384048"/>
          </a:xfrm>
          <a:prstGeom prst="rect">
            <a:avLst/>
          </a:prstGeom>
        </p:spPr>
      </p:pic>
      <p:sp>
        <p:nvSpPr>
          <p:cNvPr id="6" name="Text 3"/>
          <p:cNvSpPr/>
          <p:nvPr/>
        </p:nvSpPr>
        <p:spPr>
          <a:xfrm>
            <a:off x="1005840" y="1463040"/>
            <a:ext cx="1874520" cy="41148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Gemini AI Planner</a:t>
            </a:r>
            <a:endParaRPr lang="en-US" sz="1150" dirty="0"/>
          </a:p>
        </p:txBody>
      </p:sp>
      <p:sp>
        <p:nvSpPr>
          <p:cNvPr id="7" name="Text 4"/>
          <p:cNvSpPr/>
          <p:nvPr/>
        </p:nvSpPr>
        <p:spPr>
          <a:xfrm>
            <a:off x="548640" y="1920240"/>
            <a:ext cx="2359152" cy="777240"/>
          </a:xfrm>
          <a:prstGeom prst="rect">
            <a:avLst/>
          </a:prstGeom>
          <a:noFill/>
          <a:ln/>
        </p:spPr>
        <p:txBody>
          <a:bodyPr wrap="square" rtlCol="0" anchor="ctr"/>
          <a:lstStyle/>
          <a:p>
            <a:pPr indent="0" marL="0">
              <a:buNone/>
            </a:pPr>
            <a:r>
              <a:rPr lang="en-US" sz="950" dirty="0">
                <a:solidFill>
                  <a:srgbClr val="E3F2FD"/>
                </a:solidFill>
                <a:latin typeface="Calibri" pitchFamily="34" charset="0"/>
                <a:ea typeface="Calibri" pitchFamily="34" charset="-122"/>
                <a:cs typeface="Calibri" pitchFamily="34" charset="-120"/>
              </a:rPr>
              <a:t>Generate complete trip itineraries using Google Gemini 2.5 Flash — just describe your ideal trip.</a:t>
            </a:r>
            <a:endParaRPr lang="en-US" sz="950" dirty="0"/>
          </a:p>
        </p:txBody>
      </p:sp>
      <p:sp>
        <p:nvSpPr>
          <p:cNvPr id="8" name="Shape 5"/>
          <p:cNvSpPr/>
          <p:nvPr/>
        </p:nvSpPr>
        <p:spPr>
          <a:xfrm>
            <a:off x="3154680" y="1325880"/>
            <a:ext cx="2560320" cy="1463040"/>
          </a:xfrm>
          <a:prstGeom prst="roundRect">
            <a:avLst>
              <a:gd name="adj" fmla="val 6250"/>
            </a:avLst>
          </a:prstGeom>
          <a:solidFill>
            <a:srgbClr val="1565C0"/>
          </a:solidFill>
          <a:ln/>
          <a:effectLst>
            <a:outerShdw sx="100000" sy="100000" kx="0" ky="0" algn="bl" rotWithShape="0" blurRad="101600" dist="38100" dir="2700000">
              <a:srgbClr val="000000">
                <a:alpha val="12000"/>
              </a:srgbClr>
            </a:outerShdw>
          </a:effectLst>
        </p:spPr>
      </p:sp>
      <p:pic>
        <p:nvPicPr>
          <p:cNvPr id="9" name="Image 1" descr="preencoded.png"/>
          <p:cNvPicPr>
            <a:picLocks noChangeAspect="1"/>
          </p:cNvPicPr>
          <p:nvPr/>
        </p:nvPicPr>
        <p:blipFill>
          <a:blip r:embed="rId2"/>
          <a:stretch>
            <a:fillRect/>
          </a:stretch>
        </p:blipFill>
        <p:spPr>
          <a:xfrm>
            <a:off x="3291840" y="1490472"/>
            <a:ext cx="384048" cy="384048"/>
          </a:xfrm>
          <a:prstGeom prst="rect">
            <a:avLst/>
          </a:prstGeom>
        </p:spPr>
      </p:pic>
      <p:sp>
        <p:nvSpPr>
          <p:cNvPr id="10" name="Text 6"/>
          <p:cNvSpPr/>
          <p:nvPr/>
        </p:nvSpPr>
        <p:spPr>
          <a:xfrm>
            <a:off x="3749040" y="1463040"/>
            <a:ext cx="1874520" cy="41148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Live Flight Search</a:t>
            </a:r>
            <a:endParaRPr lang="en-US" sz="1150" dirty="0"/>
          </a:p>
        </p:txBody>
      </p:sp>
      <p:sp>
        <p:nvSpPr>
          <p:cNvPr id="11" name="Text 7"/>
          <p:cNvSpPr/>
          <p:nvPr/>
        </p:nvSpPr>
        <p:spPr>
          <a:xfrm>
            <a:off x="3291840" y="1920240"/>
            <a:ext cx="2359152" cy="777240"/>
          </a:xfrm>
          <a:prstGeom prst="rect">
            <a:avLst/>
          </a:prstGeom>
          <a:noFill/>
          <a:ln/>
        </p:spPr>
        <p:txBody>
          <a:bodyPr wrap="square" rtlCol="0" anchor="ctr"/>
          <a:lstStyle/>
          <a:p>
            <a:pPr indent="0" marL="0">
              <a:buNone/>
            </a:pPr>
            <a:r>
              <a:rPr lang="en-US" sz="950" dirty="0">
                <a:solidFill>
                  <a:srgbClr val="E3F2FD"/>
                </a:solidFill>
                <a:latin typeface="Calibri" pitchFamily="34" charset="0"/>
                <a:ea typeface="Calibri" pitchFamily="34" charset="-122"/>
                <a:cs typeface="Calibri" pitchFamily="34" charset="-120"/>
              </a:rPr>
              <a:t>Real-time one-way flight search powered by the RapidAPI flights-sky API with autocomplete.</a:t>
            </a:r>
            <a:endParaRPr lang="en-US" sz="950" dirty="0"/>
          </a:p>
        </p:txBody>
      </p:sp>
      <p:sp>
        <p:nvSpPr>
          <p:cNvPr id="12" name="Shape 8"/>
          <p:cNvSpPr/>
          <p:nvPr/>
        </p:nvSpPr>
        <p:spPr>
          <a:xfrm>
            <a:off x="5897880" y="1325880"/>
            <a:ext cx="2560320" cy="1463040"/>
          </a:xfrm>
          <a:prstGeom prst="roundRect">
            <a:avLst>
              <a:gd name="adj" fmla="val 6250"/>
            </a:avLst>
          </a:prstGeom>
          <a:solidFill>
            <a:srgbClr val="1565C0"/>
          </a:solidFill>
          <a:ln/>
          <a:effectLst>
            <a:outerShdw sx="100000" sy="100000" kx="0" ky="0" algn="bl" rotWithShape="0" blurRad="101600" dist="38100" dir="2700000">
              <a:srgbClr val="000000">
                <a:alpha val="12000"/>
              </a:srgbClr>
            </a:outerShdw>
          </a:effectLst>
        </p:spPr>
      </p:sp>
      <p:pic>
        <p:nvPicPr>
          <p:cNvPr id="13" name="Image 2" descr="preencoded.png"/>
          <p:cNvPicPr>
            <a:picLocks noChangeAspect="1"/>
          </p:cNvPicPr>
          <p:nvPr/>
        </p:nvPicPr>
        <p:blipFill>
          <a:blip r:embed="rId3"/>
          <a:stretch>
            <a:fillRect/>
          </a:stretch>
        </p:blipFill>
        <p:spPr>
          <a:xfrm>
            <a:off x="6035040" y="1490472"/>
            <a:ext cx="384048" cy="384048"/>
          </a:xfrm>
          <a:prstGeom prst="rect">
            <a:avLst/>
          </a:prstGeom>
        </p:spPr>
      </p:pic>
      <p:sp>
        <p:nvSpPr>
          <p:cNvPr id="14" name="Text 9"/>
          <p:cNvSpPr/>
          <p:nvPr/>
        </p:nvSpPr>
        <p:spPr>
          <a:xfrm>
            <a:off x="6492240" y="1463040"/>
            <a:ext cx="1874520" cy="41148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AI Destination Explorer</a:t>
            </a:r>
            <a:endParaRPr lang="en-US" sz="1150" dirty="0"/>
          </a:p>
        </p:txBody>
      </p:sp>
      <p:sp>
        <p:nvSpPr>
          <p:cNvPr id="15" name="Text 10"/>
          <p:cNvSpPr/>
          <p:nvPr/>
        </p:nvSpPr>
        <p:spPr>
          <a:xfrm>
            <a:off x="6035040" y="1920240"/>
            <a:ext cx="2359152" cy="777240"/>
          </a:xfrm>
          <a:prstGeom prst="rect">
            <a:avLst/>
          </a:prstGeom>
          <a:noFill/>
          <a:ln/>
        </p:spPr>
        <p:txBody>
          <a:bodyPr wrap="square" rtlCol="0" anchor="ctr"/>
          <a:lstStyle/>
          <a:p>
            <a:pPr indent="0" marL="0">
              <a:buNone/>
            </a:pPr>
            <a:r>
              <a:rPr lang="en-US" sz="950" dirty="0">
                <a:solidFill>
                  <a:srgbClr val="E3F2FD"/>
                </a:solidFill>
                <a:latin typeface="Calibri" pitchFamily="34" charset="0"/>
                <a:ea typeface="Calibri" pitchFamily="34" charset="-122"/>
                <a:cs typeface="Calibri" pitchFamily="34" charset="-120"/>
              </a:rPr>
              <a:t>Explore any destination worldwide with AI-generated details, landmarks, and custom itineraries.</a:t>
            </a:r>
            <a:endParaRPr lang="en-US" sz="950" dirty="0"/>
          </a:p>
        </p:txBody>
      </p:sp>
      <p:sp>
        <p:nvSpPr>
          <p:cNvPr id="16" name="Shape 11"/>
          <p:cNvSpPr/>
          <p:nvPr/>
        </p:nvSpPr>
        <p:spPr>
          <a:xfrm>
            <a:off x="411480" y="2926080"/>
            <a:ext cx="2560320" cy="1463040"/>
          </a:xfrm>
          <a:prstGeom prst="roundRect">
            <a:avLst>
              <a:gd name="adj" fmla="val 6250"/>
            </a:avLst>
          </a:prstGeom>
          <a:solidFill>
            <a:srgbClr val="1565C0"/>
          </a:solidFill>
          <a:ln/>
          <a:effectLst>
            <a:outerShdw sx="100000" sy="100000" kx="0" ky="0" algn="bl" rotWithShape="0" blurRad="101600" dist="38100" dir="2700000">
              <a:srgbClr val="000000">
                <a:alpha val="12000"/>
              </a:srgbClr>
            </a:outerShdw>
          </a:effectLst>
        </p:spPr>
      </p:sp>
      <p:pic>
        <p:nvPicPr>
          <p:cNvPr id="17" name="Image 3" descr="preencoded.png"/>
          <p:cNvPicPr>
            <a:picLocks noChangeAspect="1"/>
          </p:cNvPicPr>
          <p:nvPr/>
        </p:nvPicPr>
        <p:blipFill>
          <a:blip r:embed="rId4"/>
          <a:stretch>
            <a:fillRect/>
          </a:stretch>
        </p:blipFill>
        <p:spPr>
          <a:xfrm>
            <a:off x="548640" y="3090672"/>
            <a:ext cx="384048" cy="384048"/>
          </a:xfrm>
          <a:prstGeom prst="rect">
            <a:avLst/>
          </a:prstGeom>
        </p:spPr>
      </p:pic>
      <p:sp>
        <p:nvSpPr>
          <p:cNvPr id="18" name="Text 12"/>
          <p:cNvSpPr/>
          <p:nvPr/>
        </p:nvSpPr>
        <p:spPr>
          <a:xfrm>
            <a:off x="1005840" y="3063240"/>
            <a:ext cx="1874520" cy="41148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Secure Auth &amp; Login</a:t>
            </a:r>
            <a:endParaRPr lang="en-US" sz="1150" dirty="0"/>
          </a:p>
        </p:txBody>
      </p:sp>
      <p:sp>
        <p:nvSpPr>
          <p:cNvPr id="19" name="Text 13"/>
          <p:cNvSpPr/>
          <p:nvPr/>
        </p:nvSpPr>
        <p:spPr>
          <a:xfrm>
            <a:off x="548640" y="3520440"/>
            <a:ext cx="2359152" cy="777240"/>
          </a:xfrm>
          <a:prstGeom prst="rect">
            <a:avLst/>
          </a:prstGeom>
          <a:noFill/>
          <a:ln/>
        </p:spPr>
        <p:txBody>
          <a:bodyPr wrap="square" rtlCol="0" anchor="ctr"/>
          <a:lstStyle/>
          <a:p>
            <a:pPr indent="0" marL="0">
              <a:buNone/>
            </a:pPr>
            <a:r>
              <a:rPr lang="en-US" sz="950" dirty="0">
                <a:solidFill>
                  <a:srgbClr val="E3F2FD"/>
                </a:solidFill>
                <a:latin typeface="Calibri" pitchFamily="34" charset="0"/>
                <a:ea typeface="Calibri" pitchFamily="34" charset="-122"/>
                <a:cs typeface="Calibri" pitchFamily="34" charset="-120"/>
              </a:rPr>
              <a:t>Firebase Authentication with protected routes — all travel features require login.</a:t>
            </a:r>
            <a:endParaRPr lang="en-US" sz="950" dirty="0"/>
          </a:p>
        </p:txBody>
      </p:sp>
      <p:sp>
        <p:nvSpPr>
          <p:cNvPr id="20" name="Shape 14"/>
          <p:cNvSpPr/>
          <p:nvPr/>
        </p:nvSpPr>
        <p:spPr>
          <a:xfrm>
            <a:off x="3154680" y="2926080"/>
            <a:ext cx="2560320" cy="1463040"/>
          </a:xfrm>
          <a:prstGeom prst="roundRect">
            <a:avLst>
              <a:gd name="adj" fmla="val 6250"/>
            </a:avLst>
          </a:prstGeom>
          <a:solidFill>
            <a:srgbClr val="1565C0"/>
          </a:solidFill>
          <a:ln/>
          <a:effectLst>
            <a:outerShdw sx="100000" sy="100000" kx="0" ky="0" algn="bl" rotWithShape="0" blurRad="101600" dist="38100" dir="2700000">
              <a:srgbClr val="000000">
                <a:alpha val="12000"/>
              </a:srgbClr>
            </a:outerShdw>
          </a:effectLst>
        </p:spPr>
      </p:sp>
      <p:pic>
        <p:nvPicPr>
          <p:cNvPr id="21" name="Image 4" descr="preencoded.png"/>
          <p:cNvPicPr>
            <a:picLocks noChangeAspect="1"/>
          </p:cNvPicPr>
          <p:nvPr/>
        </p:nvPicPr>
        <p:blipFill>
          <a:blip r:embed="rId5"/>
          <a:stretch>
            <a:fillRect/>
          </a:stretch>
        </p:blipFill>
        <p:spPr>
          <a:xfrm>
            <a:off x="3291840" y="3090672"/>
            <a:ext cx="384048" cy="384048"/>
          </a:xfrm>
          <a:prstGeom prst="rect">
            <a:avLst/>
          </a:prstGeom>
        </p:spPr>
      </p:pic>
      <p:sp>
        <p:nvSpPr>
          <p:cNvPr id="22" name="Text 15"/>
          <p:cNvSpPr/>
          <p:nvPr/>
        </p:nvSpPr>
        <p:spPr>
          <a:xfrm>
            <a:off x="3749040" y="3063240"/>
            <a:ext cx="1874520" cy="41148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Saved Flights</a:t>
            </a:r>
            <a:endParaRPr lang="en-US" sz="1150" dirty="0"/>
          </a:p>
        </p:txBody>
      </p:sp>
      <p:sp>
        <p:nvSpPr>
          <p:cNvPr id="23" name="Text 16"/>
          <p:cNvSpPr/>
          <p:nvPr/>
        </p:nvSpPr>
        <p:spPr>
          <a:xfrm>
            <a:off x="3291840" y="3520440"/>
            <a:ext cx="2359152" cy="777240"/>
          </a:xfrm>
          <a:prstGeom prst="rect">
            <a:avLst/>
          </a:prstGeom>
          <a:noFill/>
          <a:ln/>
        </p:spPr>
        <p:txBody>
          <a:bodyPr wrap="square" rtlCol="0" anchor="ctr"/>
          <a:lstStyle/>
          <a:p>
            <a:pPr indent="0" marL="0">
              <a:buNone/>
            </a:pPr>
            <a:r>
              <a:rPr lang="en-US" sz="950" dirty="0">
                <a:solidFill>
                  <a:srgbClr val="E3F2FD"/>
                </a:solidFill>
                <a:latin typeface="Calibri" pitchFamily="34" charset="0"/>
                <a:ea typeface="Calibri" pitchFamily="34" charset="-122"/>
                <a:cs typeface="Calibri" pitchFamily="34" charset="-120"/>
              </a:rPr>
              <a:t>Save flights to a personal list for later reference — view airline, stops, and price details anytime.</a:t>
            </a:r>
            <a:endParaRPr lang="en-US" sz="950" dirty="0"/>
          </a:p>
        </p:txBody>
      </p:sp>
      <p:sp>
        <p:nvSpPr>
          <p:cNvPr id="24" name="Shape 17"/>
          <p:cNvSpPr/>
          <p:nvPr/>
        </p:nvSpPr>
        <p:spPr>
          <a:xfrm>
            <a:off x="5897880" y="2926080"/>
            <a:ext cx="2560320" cy="1463040"/>
          </a:xfrm>
          <a:prstGeom prst="roundRect">
            <a:avLst>
              <a:gd name="adj" fmla="val 6250"/>
            </a:avLst>
          </a:prstGeom>
          <a:solidFill>
            <a:srgbClr val="1565C0"/>
          </a:solidFill>
          <a:ln/>
          <a:effectLst>
            <a:outerShdw sx="100000" sy="100000" kx="0" ky="0" algn="bl" rotWithShape="0" blurRad="101600" dist="38100" dir="2700000">
              <a:srgbClr val="000000">
                <a:alpha val="12000"/>
              </a:srgbClr>
            </a:outerShdw>
          </a:effectLst>
        </p:spPr>
      </p:sp>
      <p:pic>
        <p:nvPicPr>
          <p:cNvPr id="25" name="Image 5" descr="preencoded.png"/>
          <p:cNvPicPr>
            <a:picLocks noChangeAspect="1"/>
          </p:cNvPicPr>
          <p:nvPr/>
        </p:nvPicPr>
        <p:blipFill>
          <a:blip r:embed="rId6"/>
          <a:stretch>
            <a:fillRect/>
          </a:stretch>
        </p:blipFill>
        <p:spPr>
          <a:xfrm>
            <a:off x="6035040" y="3090672"/>
            <a:ext cx="384048" cy="384048"/>
          </a:xfrm>
          <a:prstGeom prst="rect">
            <a:avLst/>
          </a:prstGeom>
        </p:spPr>
      </p:pic>
      <p:sp>
        <p:nvSpPr>
          <p:cNvPr id="26" name="Text 18"/>
          <p:cNvSpPr/>
          <p:nvPr/>
        </p:nvSpPr>
        <p:spPr>
          <a:xfrm>
            <a:off x="6492240" y="3063240"/>
            <a:ext cx="1874520" cy="41148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Personal Dashboard</a:t>
            </a:r>
            <a:endParaRPr lang="en-US" sz="1150" dirty="0"/>
          </a:p>
        </p:txBody>
      </p:sp>
      <p:sp>
        <p:nvSpPr>
          <p:cNvPr id="27" name="Text 19"/>
          <p:cNvSpPr/>
          <p:nvPr/>
        </p:nvSpPr>
        <p:spPr>
          <a:xfrm>
            <a:off x="6035040" y="3520440"/>
            <a:ext cx="2359152" cy="777240"/>
          </a:xfrm>
          <a:prstGeom prst="rect">
            <a:avLst/>
          </a:prstGeom>
          <a:noFill/>
          <a:ln/>
        </p:spPr>
        <p:txBody>
          <a:bodyPr wrap="square" rtlCol="0" anchor="ctr"/>
          <a:lstStyle/>
          <a:p>
            <a:pPr indent="0" marL="0">
              <a:buNone/>
            </a:pPr>
            <a:r>
              <a:rPr lang="en-US" sz="950" dirty="0">
                <a:solidFill>
                  <a:srgbClr val="E3F2FD"/>
                </a:solidFill>
                <a:latin typeface="Calibri" pitchFamily="34" charset="0"/>
                <a:ea typeface="Calibri" pitchFamily="34" charset="-122"/>
                <a:cs typeface="Calibri" pitchFamily="34" charset="-120"/>
              </a:rPr>
              <a:t>Unified overview of saved flights and AI plans with quick access to all app features.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0D2B4E"/>
          </a:solidFill>
          <a:ln w="12700">
            <a:solidFill>
              <a:srgbClr val="0D2B4E"/>
            </a:solidFill>
            <a:prstDash val="solid"/>
          </a:ln>
        </p:spPr>
      </p:sp>
      <p:pic>
        <p:nvPicPr>
          <p:cNvPr id="3" name="Image 0" descr="preencoded.png"/>
          <p:cNvPicPr>
            <a:picLocks noChangeAspect="1"/>
          </p:cNvPicPr>
          <p:nvPr/>
        </p:nvPicPr>
        <p:blipFill>
          <a:blip r:embed="rId1"/>
          <a:stretch>
            <a:fillRect/>
          </a:stretch>
        </p:blipFill>
        <p:spPr>
          <a:xfrm>
            <a:off x="320040" y="548640"/>
            <a:ext cx="1097280" cy="1097280"/>
          </a:xfrm>
          <a:prstGeom prst="rect">
            <a:avLst/>
          </a:prstGeom>
        </p:spPr>
      </p:pic>
      <p:sp>
        <p:nvSpPr>
          <p:cNvPr id="4" name="Text 1"/>
          <p:cNvSpPr/>
          <p:nvPr/>
        </p:nvSpPr>
        <p:spPr>
          <a:xfrm>
            <a:off x="274320" y="1783080"/>
            <a:ext cx="320040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Home Page</a:t>
            </a:r>
            <a:endParaRPr lang="en-US" sz="2600" dirty="0"/>
          </a:p>
        </p:txBody>
      </p:sp>
      <p:sp>
        <p:nvSpPr>
          <p:cNvPr id="5" name="Text 2"/>
          <p:cNvSpPr/>
          <p:nvPr/>
        </p:nvSpPr>
        <p:spPr>
          <a:xfrm>
            <a:off x="274320" y="2423160"/>
            <a:ext cx="3200400" cy="411480"/>
          </a:xfrm>
          <a:prstGeom prst="rect">
            <a:avLst/>
          </a:prstGeom>
          <a:noFill/>
          <a:ln/>
        </p:spPr>
        <p:txBody>
          <a:bodyPr wrap="square" rtlCol="0" anchor="ctr"/>
          <a:lstStyle/>
          <a:p>
            <a:pPr indent="0" marL="0">
              <a:buNone/>
            </a:pPr>
            <a:r>
              <a:rPr lang="en-US" sz="1400" i="1" dirty="0">
                <a:solidFill>
                  <a:srgbClr val="FF8F00"/>
                </a:solidFill>
                <a:latin typeface="Calibri" pitchFamily="34" charset="0"/>
                <a:ea typeface="Calibri" pitchFamily="34" charset="-122"/>
                <a:cs typeface="Calibri" pitchFamily="34" charset="-120"/>
              </a:rPr>
              <a:t>Landing &amp; Discovery</a:t>
            </a:r>
            <a:endParaRPr lang="en-US" sz="1400" dirty="0"/>
          </a:p>
        </p:txBody>
      </p:sp>
      <p:sp>
        <p:nvSpPr>
          <p:cNvPr id="6" name="Shape 3"/>
          <p:cNvSpPr/>
          <p:nvPr/>
        </p:nvSpPr>
        <p:spPr>
          <a:xfrm>
            <a:off x="320040" y="3017520"/>
            <a:ext cx="128016" cy="128016"/>
          </a:xfrm>
          <a:prstGeom prst="ellipse">
            <a:avLst/>
          </a:prstGeom>
          <a:solidFill>
            <a:srgbClr val="FF8F00"/>
          </a:solidFill>
          <a:ln w="12700">
            <a:solidFill>
              <a:srgbClr val="FF8F00"/>
            </a:solidFill>
            <a:prstDash val="solid"/>
          </a:ln>
        </p:spPr>
      </p:sp>
      <p:sp>
        <p:nvSpPr>
          <p:cNvPr id="7" name="Text 4"/>
          <p:cNvSpPr/>
          <p:nvPr/>
        </p:nvSpPr>
        <p:spPr>
          <a:xfrm>
            <a:off x="530352" y="2962656"/>
            <a:ext cx="2971800" cy="347472"/>
          </a:xfrm>
          <a:prstGeom prst="rect">
            <a:avLst/>
          </a:prstGeom>
          <a:noFill/>
          <a:ln/>
        </p:spPr>
        <p:txBody>
          <a:bodyPr wrap="square" rtlCol="0" anchor="ctr"/>
          <a:lstStyle/>
          <a:p>
            <a:pPr indent="0" marL="0">
              <a:buNone/>
            </a:pPr>
            <a:r>
              <a:rPr lang="en-US" sz="1000" dirty="0">
                <a:solidFill>
                  <a:srgbClr val="E3F2FD"/>
                </a:solidFill>
                <a:latin typeface="Calibri" pitchFamily="34" charset="0"/>
                <a:ea typeface="Calibri" pitchFamily="34" charset="-122"/>
                <a:cs typeface="Calibri" pitchFamily="34" charset="-120"/>
              </a:rPr>
              <a:t>Hero section with full-screen background image and search bar</a:t>
            </a:r>
            <a:endParaRPr lang="en-US" sz="1000" dirty="0"/>
          </a:p>
        </p:txBody>
      </p:sp>
      <p:sp>
        <p:nvSpPr>
          <p:cNvPr id="8" name="Shape 5"/>
          <p:cNvSpPr/>
          <p:nvPr/>
        </p:nvSpPr>
        <p:spPr>
          <a:xfrm>
            <a:off x="320040" y="3401568"/>
            <a:ext cx="128016" cy="128016"/>
          </a:xfrm>
          <a:prstGeom prst="ellipse">
            <a:avLst/>
          </a:prstGeom>
          <a:solidFill>
            <a:srgbClr val="FF8F00"/>
          </a:solidFill>
          <a:ln w="12700">
            <a:solidFill>
              <a:srgbClr val="FF8F00"/>
            </a:solidFill>
            <a:prstDash val="solid"/>
          </a:ln>
        </p:spPr>
      </p:sp>
      <p:sp>
        <p:nvSpPr>
          <p:cNvPr id="9" name="Text 6"/>
          <p:cNvSpPr/>
          <p:nvPr/>
        </p:nvSpPr>
        <p:spPr>
          <a:xfrm>
            <a:off x="530352" y="3346704"/>
            <a:ext cx="2971800" cy="347472"/>
          </a:xfrm>
          <a:prstGeom prst="rect">
            <a:avLst/>
          </a:prstGeom>
          <a:noFill/>
          <a:ln/>
        </p:spPr>
        <p:txBody>
          <a:bodyPr wrap="square" rtlCol="0" anchor="ctr"/>
          <a:lstStyle/>
          <a:p>
            <a:pPr indent="0" marL="0">
              <a:buNone/>
            </a:pPr>
            <a:r>
              <a:rPr lang="en-US" sz="1000" dirty="0">
                <a:solidFill>
                  <a:srgbClr val="E3F2FD"/>
                </a:solidFill>
                <a:latin typeface="Calibri" pitchFamily="34" charset="0"/>
                <a:ea typeface="Calibri" pitchFamily="34" charset="-122"/>
                <a:cs typeface="Calibri" pitchFamily="34" charset="-120"/>
              </a:rPr>
              <a:t>Feature cards linking to Flights, Destinations, AI Planner, and Dashboard</a:t>
            </a:r>
            <a:endParaRPr lang="en-US" sz="1000" dirty="0"/>
          </a:p>
        </p:txBody>
      </p:sp>
      <p:sp>
        <p:nvSpPr>
          <p:cNvPr id="10" name="Shape 7"/>
          <p:cNvSpPr/>
          <p:nvPr/>
        </p:nvSpPr>
        <p:spPr>
          <a:xfrm>
            <a:off x="320040" y="3785616"/>
            <a:ext cx="128016" cy="128016"/>
          </a:xfrm>
          <a:prstGeom prst="ellipse">
            <a:avLst/>
          </a:prstGeom>
          <a:solidFill>
            <a:srgbClr val="FF8F00"/>
          </a:solidFill>
          <a:ln w="12700">
            <a:solidFill>
              <a:srgbClr val="FF8F00"/>
            </a:solidFill>
            <a:prstDash val="solid"/>
          </a:ln>
        </p:spPr>
      </p:sp>
      <p:sp>
        <p:nvSpPr>
          <p:cNvPr id="11" name="Text 8"/>
          <p:cNvSpPr/>
          <p:nvPr/>
        </p:nvSpPr>
        <p:spPr>
          <a:xfrm>
            <a:off x="530352" y="3730752"/>
            <a:ext cx="2971800" cy="347472"/>
          </a:xfrm>
          <a:prstGeom prst="rect">
            <a:avLst/>
          </a:prstGeom>
          <a:noFill/>
          <a:ln/>
        </p:spPr>
        <p:txBody>
          <a:bodyPr wrap="square" rtlCol="0" anchor="ctr"/>
          <a:lstStyle/>
          <a:p>
            <a:pPr indent="0" marL="0">
              <a:buNone/>
            </a:pPr>
            <a:r>
              <a:rPr lang="en-US" sz="1000" dirty="0">
                <a:solidFill>
                  <a:srgbClr val="E3F2FD"/>
                </a:solidFill>
                <a:latin typeface="Calibri" pitchFamily="34" charset="0"/>
                <a:ea typeface="Calibri" pitchFamily="34" charset="-122"/>
                <a:cs typeface="Calibri" pitchFamily="34" charset="-120"/>
              </a:rPr>
              <a:t>Trending destination cards: Dubai, Paris, Bali with pricing</a:t>
            </a:r>
            <a:endParaRPr lang="en-US" sz="1000" dirty="0"/>
          </a:p>
        </p:txBody>
      </p:sp>
      <p:sp>
        <p:nvSpPr>
          <p:cNvPr id="12" name="Shape 9"/>
          <p:cNvSpPr/>
          <p:nvPr/>
        </p:nvSpPr>
        <p:spPr>
          <a:xfrm>
            <a:off x="320040" y="4169664"/>
            <a:ext cx="128016" cy="128016"/>
          </a:xfrm>
          <a:prstGeom prst="ellipse">
            <a:avLst/>
          </a:prstGeom>
          <a:solidFill>
            <a:srgbClr val="FF8F00"/>
          </a:solidFill>
          <a:ln w="12700">
            <a:solidFill>
              <a:srgbClr val="FF8F00"/>
            </a:solidFill>
            <a:prstDash val="solid"/>
          </a:ln>
        </p:spPr>
      </p:sp>
      <p:sp>
        <p:nvSpPr>
          <p:cNvPr id="13" name="Text 10"/>
          <p:cNvSpPr/>
          <p:nvPr/>
        </p:nvSpPr>
        <p:spPr>
          <a:xfrm>
            <a:off x="530352" y="4114800"/>
            <a:ext cx="2971800" cy="347472"/>
          </a:xfrm>
          <a:prstGeom prst="rect">
            <a:avLst/>
          </a:prstGeom>
          <a:noFill/>
          <a:ln/>
        </p:spPr>
        <p:txBody>
          <a:bodyPr wrap="square" rtlCol="0" anchor="ctr"/>
          <a:lstStyle/>
          <a:p>
            <a:pPr indent="0" marL="0">
              <a:buNone/>
            </a:pPr>
            <a:r>
              <a:rPr lang="en-US" sz="1000" dirty="0">
                <a:solidFill>
                  <a:srgbClr val="E3F2FD"/>
                </a:solidFill>
                <a:latin typeface="Calibri" pitchFamily="34" charset="0"/>
                <a:ea typeface="Calibri" pitchFamily="34" charset="-122"/>
                <a:cs typeface="Calibri" pitchFamily="34" charset="-120"/>
              </a:rPr>
              <a:t>Live flight deals section fetched from RapidAPI in real time</a:t>
            </a:r>
            <a:endParaRPr lang="en-US" sz="1000" dirty="0"/>
          </a:p>
        </p:txBody>
      </p:sp>
      <p:sp>
        <p:nvSpPr>
          <p:cNvPr id="14" name="Shape 11"/>
          <p:cNvSpPr/>
          <p:nvPr/>
        </p:nvSpPr>
        <p:spPr>
          <a:xfrm>
            <a:off x="320040" y="4553712"/>
            <a:ext cx="128016" cy="128016"/>
          </a:xfrm>
          <a:prstGeom prst="ellipse">
            <a:avLst/>
          </a:prstGeom>
          <a:solidFill>
            <a:srgbClr val="FF8F00"/>
          </a:solidFill>
          <a:ln w="12700">
            <a:solidFill>
              <a:srgbClr val="FF8F00"/>
            </a:solidFill>
            <a:prstDash val="solid"/>
          </a:ln>
        </p:spPr>
      </p:sp>
      <p:sp>
        <p:nvSpPr>
          <p:cNvPr id="15" name="Text 12"/>
          <p:cNvSpPr/>
          <p:nvPr/>
        </p:nvSpPr>
        <p:spPr>
          <a:xfrm>
            <a:off x="530352" y="4498848"/>
            <a:ext cx="2971800" cy="347472"/>
          </a:xfrm>
          <a:prstGeom prst="rect">
            <a:avLst/>
          </a:prstGeom>
          <a:noFill/>
          <a:ln/>
        </p:spPr>
        <p:txBody>
          <a:bodyPr wrap="square" rtlCol="0" anchor="ctr"/>
          <a:lstStyle/>
          <a:p>
            <a:pPr indent="0" marL="0">
              <a:buNone/>
            </a:pPr>
            <a:r>
              <a:rPr lang="en-US" sz="1000" dirty="0">
                <a:solidFill>
                  <a:srgbClr val="E3F2FD"/>
                </a:solidFill>
                <a:latin typeface="Calibri" pitchFamily="34" charset="0"/>
                <a:ea typeface="Calibri" pitchFamily="34" charset="-122"/>
                <a:cs typeface="Calibri" pitchFamily="34" charset="-120"/>
              </a:rPr>
              <a:t>Stats banner: 500+ destinations, 12K+ flights, 98% satisfaction, 24/7 AI support</a:t>
            </a:r>
            <a:endParaRPr lang="en-US" sz="1000" dirty="0"/>
          </a:p>
        </p:txBody>
      </p:sp>
      <p:sp>
        <p:nvSpPr>
          <p:cNvPr id="16" name="Text 13"/>
          <p:cNvSpPr/>
          <p:nvPr/>
        </p:nvSpPr>
        <p:spPr>
          <a:xfrm>
            <a:off x="3931920" y="274320"/>
            <a:ext cx="4937760" cy="457200"/>
          </a:xfrm>
          <a:prstGeom prst="rect">
            <a:avLst/>
          </a:prstGeom>
          <a:noFill/>
          <a:ln/>
        </p:spPr>
        <p:txBody>
          <a:bodyPr wrap="square" rtlCol="0" anchor="ctr"/>
          <a:lstStyle/>
          <a:p>
            <a:pPr indent="0" marL="0">
              <a:buNone/>
            </a:pPr>
            <a:r>
              <a:rPr lang="en-US" sz="1800" b="1" dirty="0">
                <a:solidFill>
                  <a:srgbClr val="0D2B4E"/>
                </a:solidFill>
                <a:latin typeface="Cambria" pitchFamily="34" charset="0"/>
                <a:ea typeface="Cambria" pitchFamily="34" charset="-122"/>
                <a:cs typeface="Cambria" pitchFamily="34" charset="-120"/>
              </a:rPr>
              <a:t>Page Overview</a:t>
            </a:r>
            <a:endParaRPr lang="en-US" sz="1800" dirty="0"/>
          </a:p>
        </p:txBody>
      </p:sp>
      <p:sp>
        <p:nvSpPr>
          <p:cNvPr id="17" name="Shape 14"/>
          <p:cNvSpPr/>
          <p:nvPr/>
        </p:nvSpPr>
        <p:spPr>
          <a:xfrm>
            <a:off x="3886200" y="822960"/>
            <a:ext cx="4937760" cy="685800"/>
          </a:xfrm>
          <a:prstGeom prst="roundRect">
            <a:avLst>
              <a:gd name="adj" fmla="val 10667"/>
            </a:avLst>
          </a:prstGeom>
          <a:solidFill>
            <a:srgbClr val="EEF5FF"/>
          </a:solidFill>
          <a:ln/>
          <a:effectLst>
            <a:outerShdw sx="100000" sy="100000" kx="0" ky="0" algn="bl" rotWithShape="0" blurRad="101600" dist="38100" dir="2700000">
              <a:srgbClr val="000000">
                <a:alpha val="12000"/>
              </a:srgbClr>
            </a:outerShdw>
          </a:effectLst>
        </p:spPr>
      </p:sp>
      <p:sp>
        <p:nvSpPr>
          <p:cNvPr id="18" name="Text 15"/>
          <p:cNvSpPr/>
          <p:nvPr/>
        </p:nvSpPr>
        <p:spPr>
          <a:xfrm>
            <a:off x="4069080" y="886968"/>
            <a:ext cx="2743200" cy="274320"/>
          </a:xfrm>
          <a:prstGeom prst="rect">
            <a:avLst/>
          </a:prstGeom>
          <a:noFill/>
          <a:ln/>
        </p:spPr>
        <p:txBody>
          <a:bodyPr wrap="square" rtlCol="0" anchor="ctr"/>
          <a:lstStyle/>
          <a:p>
            <a:pPr indent="0" marL="0">
              <a:buNone/>
            </a:pPr>
            <a:r>
              <a:rPr lang="en-US" sz="1200" b="1" dirty="0">
                <a:solidFill>
                  <a:srgbClr val="0D2B4E"/>
                </a:solidFill>
                <a:latin typeface="Calibri" pitchFamily="34" charset="0"/>
                <a:ea typeface="Calibri" pitchFamily="34" charset="-122"/>
                <a:cs typeface="Calibri" pitchFamily="34" charset="-120"/>
              </a:rPr>
              <a:t>Hero Section</a:t>
            </a:r>
            <a:endParaRPr lang="en-US" sz="1200" dirty="0"/>
          </a:p>
        </p:txBody>
      </p:sp>
      <p:sp>
        <p:nvSpPr>
          <p:cNvPr id="19" name="Text 16"/>
          <p:cNvSpPr/>
          <p:nvPr/>
        </p:nvSpPr>
        <p:spPr>
          <a:xfrm>
            <a:off x="4069080" y="1161288"/>
            <a:ext cx="4572000" cy="25603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Search bar + CTA + background image</a:t>
            </a:r>
            <a:endParaRPr lang="en-US" sz="1000" dirty="0"/>
          </a:p>
        </p:txBody>
      </p:sp>
      <p:sp>
        <p:nvSpPr>
          <p:cNvPr id="20" name="Shape 17"/>
          <p:cNvSpPr/>
          <p:nvPr/>
        </p:nvSpPr>
        <p:spPr>
          <a:xfrm>
            <a:off x="3886200" y="1627632"/>
            <a:ext cx="4937760" cy="685800"/>
          </a:xfrm>
          <a:prstGeom prst="roundRect">
            <a:avLst>
              <a:gd name="adj" fmla="val 10667"/>
            </a:avLst>
          </a:prstGeom>
          <a:solidFill>
            <a:srgbClr val="EEF5FF"/>
          </a:solidFill>
          <a:ln/>
          <a:effectLst>
            <a:outerShdw sx="100000" sy="100000" kx="0" ky="0" algn="bl" rotWithShape="0" blurRad="101600" dist="38100" dir="2700000">
              <a:srgbClr val="000000">
                <a:alpha val="12000"/>
              </a:srgbClr>
            </a:outerShdw>
          </a:effectLst>
        </p:spPr>
      </p:sp>
      <p:sp>
        <p:nvSpPr>
          <p:cNvPr id="21" name="Text 18"/>
          <p:cNvSpPr/>
          <p:nvPr/>
        </p:nvSpPr>
        <p:spPr>
          <a:xfrm>
            <a:off x="4069080" y="1691640"/>
            <a:ext cx="2743200" cy="274320"/>
          </a:xfrm>
          <a:prstGeom prst="rect">
            <a:avLst/>
          </a:prstGeom>
          <a:noFill/>
          <a:ln/>
        </p:spPr>
        <p:txBody>
          <a:bodyPr wrap="square" rtlCol="0" anchor="ctr"/>
          <a:lstStyle/>
          <a:p>
            <a:pPr indent="0" marL="0">
              <a:buNone/>
            </a:pPr>
            <a:r>
              <a:rPr lang="en-US" sz="1200" b="1" dirty="0">
                <a:solidFill>
                  <a:srgbClr val="0D2B4E"/>
                </a:solidFill>
                <a:latin typeface="Calibri" pitchFamily="34" charset="0"/>
                <a:ea typeface="Calibri" pitchFamily="34" charset="-122"/>
                <a:cs typeface="Calibri" pitchFamily="34" charset="-120"/>
              </a:rPr>
              <a:t>Feature Cards (4)</a:t>
            </a:r>
            <a:endParaRPr lang="en-US" sz="1200" dirty="0"/>
          </a:p>
        </p:txBody>
      </p:sp>
      <p:sp>
        <p:nvSpPr>
          <p:cNvPr id="22" name="Text 19"/>
          <p:cNvSpPr/>
          <p:nvPr/>
        </p:nvSpPr>
        <p:spPr>
          <a:xfrm>
            <a:off x="4069080" y="1965960"/>
            <a:ext cx="4572000" cy="25603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Flights / Destinations / AI Planner / Dashboard</a:t>
            </a:r>
            <a:endParaRPr lang="en-US" sz="1000" dirty="0"/>
          </a:p>
        </p:txBody>
      </p:sp>
      <p:sp>
        <p:nvSpPr>
          <p:cNvPr id="23" name="Shape 20"/>
          <p:cNvSpPr/>
          <p:nvPr/>
        </p:nvSpPr>
        <p:spPr>
          <a:xfrm>
            <a:off x="3886200" y="2432304"/>
            <a:ext cx="4937760" cy="685800"/>
          </a:xfrm>
          <a:prstGeom prst="roundRect">
            <a:avLst>
              <a:gd name="adj" fmla="val 10667"/>
            </a:avLst>
          </a:prstGeom>
          <a:solidFill>
            <a:srgbClr val="EEF5FF"/>
          </a:solidFill>
          <a:ln/>
          <a:effectLst>
            <a:outerShdw sx="100000" sy="100000" kx="0" ky="0" algn="bl" rotWithShape="0" blurRad="101600" dist="38100" dir="2700000">
              <a:srgbClr val="000000">
                <a:alpha val="12000"/>
              </a:srgbClr>
            </a:outerShdw>
          </a:effectLst>
        </p:spPr>
      </p:sp>
      <p:sp>
        <p:nvSpPr>
          <p:cNvPr id="24" name="Text 21"/>
          <p:cNvSpPr/>
          <p:nvPr/>
        </p:nvSpPr>
        <p:spPr>
          <a:xfrm>
            <a:off x="4069080" y="2496312"/>
            <a:ext cx="2743200" cy="274320"/>
          </a:xfrm>
          <a:prstGeom prst="rect">
            <a:avLst/>
          </a:prstGeom>
          <a:noFill/>
          <a:ln/>
        </p:spPr>
        <p:txBody>
          <a:bodyPr wrap="square" rtlCol="0" anchor="ctr"/>
          <a:lstStyle/>
          <a:p>
            <a:pPr indent="0" marL="0">
              <a:buNone/>
            </a:pPr>
            <a:r>
              <a:rPr lang="en-US" sz="1200" b="1" dirty="0">
                <a:solidFill>
                  <a:srgbClr val="0D2B4E"/>
                </a:solidFill>
                <a:latin typeface="Calibri" pitchFamily="34" charset="0"/>
                <a:ea typeface="Calibri" pitchFamily="34" charset="-122"/>
                <a:cs typeface="Calibri" pitchFamily="34" charset="-120"/>
              </a:rPr>
              <a:t>Trending Destinations</a:t>
            </a:r>
            <a:endParaRPr lang="en-US" sz="1200" dirty="0"/>
          </a:p>
        </p:txBody>
      </p:sp>
      <p:sp>
        <p:nvSpPr>
          <p:cNvPr id="25" name="Text 22"/>
          <p:cNvSpPr/>
          <p:nvPr/>
        </p:nvSpPr>
        <p:spPr>
          <a:xfrm>
            <a:off x="4069080" y="2770632"/>
            <a:ext cx="4572000" cy="25603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Dubai · Paris · Bali with badges &amp; prices</a:t>
            </a:r>
            <a:endParaRPr lang="en-US" sz="1000" dirty="0"/>
          </a:p>
        </p:txBody>
      </p:sp>
      <p:sp>
        <p:nvSpPr>
          <p:cNvPr id="26" name="Shape 23"/>
          <p:cNvSpPr/>
          <p:nvPr/>
        </p:nvSpPr>
        <p:spPr>
          <a:xfrm>
            <a:off x="3886200" y="3236976"/>
            <a:ext cx="4937760" cy="685800"/>
          </a:xfrm>
          <a:prstGeom prst="roundRect">
            <a:avLst>
              <a:gd name="adj" fmla="val 10667"/>
            </a:avLst>
          </a:prstGeom>
          <a:solidFill>
            <a:srgbClr val="EEF5FF"/>
          </a:solidFill>
          <a:ln/>
          <a:effectLst>
            <a:outerShdw sx="100000" sy="100000" kx="0" ky="0" algn="bl" rotWithShape="0" blurRad="101600" dist="38100" dir="2700000">
              <a:srgbClr val="000000">
                <a:alpha val="12000"/>
              </a:srgbClr>
            </a:outerShdw>
          </a:effectLst>
        </p:spPr>
      </p:sp>
      <p:sp>
        <p:nvSpPr>
          <p:cNvPr id="27" name="Text 24"/>
          <p:cNvSpPr/>
          <p:nvPr/>
        </p:nvSpPr>
        <p:spPr>
          <a:xfrm>
            <a:off x="4069080" y="3300984"/>
            <a:ext cx="2743200" cy="274320"/>
          </a:xfrm>
          <a:prstGeom prst="rect">
            <a:avLst/>
          </a:prstGeom>
          <a:noFill/>
          <a:ln/>
        </p:spPr>
        <p:txBody>
          <a:bodyPr wrap="square" rtlCol="0" anchor="ctr"/>
          <a:lstStyle/>
          <a:p>
            <a:pPr indent="0" marL="0">
              <a:buNone/>
            </a:pPr>
            <a:r>
              <a:rPr lang="en-US" sz="1200" b="1" dirty="0">
                <a:solidFill>
                  <a:srgbClr val="0D2B4E"/>
                </a:solidFill>
                <a:latin typeface="Calibri" pitchFamily="34" charset="0"/>
                <a:ea typeface="Calibri" pitchFamily="34" charset="-122"/>
                <a:cs typeface="Calibri" pitchFamily="34" charset="-120"/>
              </a:rPr>
              <a:t>Live Flights Grid</a:t>
            </a:r>
            <a:endParaRPr lang="en-US" sz="1200" dirty="0"/>
          </a:p>
        </p:txBody>
      </p:sp>
      <p:sp>
        <p:nvSpPr>
          <p:cNvPr id="28" name="Text 25"/>
          <p:cNvSpPr/>
          <p:nvPr/>
        </p:nvSpPr>
        <p:spPr>
          <a:xfrm>
            <a:off x="4069080" y="3575304"/>
            <a:ext cx="4572000" cy="25603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Real-time cards from RapidAPI (fallback mock)</a:t>
            </a:r>
            <a:endParaRPr lang="en-US" sz="1000" dirty="0"/>
          </a:p>
        </p:txBody>
      </p:sp>
      <p:sp>
        <p:nvSpPr>
          <p:cNvPr id="29" name="Shape 26"/>
          <p:cNvSpPr/>
          <p:nvPr/>
        </p:nvSpPr>
        <p:spPr>
          <a:xfrm>
            <a:off x="3886200" y="4041648"/>
            <a:ext cx="4937760" cy="685800"/>
          </a:xfrm>
          <a:prstGeom prst="roundRect">
            <a:avLst>
              <a:gd name="adj" fmla="val 10667"/>
            </a:avLst>
          </a:prstGeom>
          <a:solidFill>
            <a:srgbClr val="EEF5FF"/>
          </a:solidFill>
          <a:ln/>
          <a:effectLst>
            <a:outerShdw sx="100000" sy="100000" kx="0" ky="0" algn="bl" rotWithShape="0" blurRad="101600" dist="38100" dir="2700000">
              <a:srgbClr val="000000">
                <a:alpha val="12000"/>
              </a:srgbClr>
            </a:outerShdw>
          </a:effectLst>
        </p:spPr>
      </p:sp>
      <p:sp>
        <p:nvSpPr>
          <p:cNvPr id="30" name="Text 27"/>
          <p:cNvSpPr/>
          <p:nvPr/>
        </p:nvSpPr>
        <p:spPr>
          <a:xfrm>
            <a:off x="4069080" y="4105656"/>
            <a:ext cx="2743200" cy="274320"/>
          </a:xfrm>
          <a:prstGeom prst="rect">
            <a:avLst/>
          </a:prstGeom>
          <a:noFill/>
          <a:ln/>
        </p:spPr>
        <p:txBody>
          <a:bodyPr wrap="square" rtlCol="0" anchor="ctr"/>
          <a:lstStyle/>
          <a:p>
            <a:pPr indent="0" marL="0">
              <a:buNone/>
            </a:pPr>
            <a:r>
              <a:rPr lang="en-US" sz="1200" b="1" dirty="0">
                <a:solidFill>
                  <a:srgbClr val="0D2B4E"/>
                </a:solidFill>
                <a:latin typeface="Calibri" pitchFamily="34" charset="0"/>
                <a:ea typeface="Calibri" pitchFamily="34" charset="-122"/>
                <a:cs typeface="Calibri" pitchFamily="34" charset="-120"/>
              </a:rPr>
              <a:t>Stats Bar</a:t>
            </a:r>
            <a:endParaRPr lang="en-US" sz="1200" dirty="0"/>
          </a:p>
        </p:txBody>
      </p:sp>
      <p:sp>
        <p:nvSpPr>
          <p:cNvPr id="31" name="Text 28"/>
          <p:cNvSpPr/>
          <p:nvPr/>
        </p:nvSpPr>
        <p:spPr>
          <a:xfrm>
            <a:off x="4069080" y="4379976"/>
            <a:ext cx="4572000" cy="25603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500+ destinations · 12K+ flights tracked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D2B4E"/>
                </a:solidFill>
                <a:latin typeface="Cambria" pitchFamily="34" charset="0"/>
                <a:ea typeface="Cambria" pitchFamily="34" charset="-122"/>
                <a:cs typeface="Cambria" pitchFamily="34" charset="-120"/>
              </a:rPr>
              <a:t>Authentication Pages</a:t>
            </a:r>
            <a:endParaRPr lang="en-US" sz="3000" dirty="0"/>
          </a:p>
        </p:txBody>
      </p:sp>
      <p:sp>
        <p:nvSpPr>
          <p:cNvPr id="3" name="Text 1"/>
          <p:cNvSpPr/>
          <p:nvPr/>
        </p:nvSpPr>
        <p:spPr>
          <a:xfrm>
            <a:off x="457200" y="804672"/>
            <a:ext cx="8229600" cy="347472"/>
          </a:xfrm>
          <a:prstGeom prst="rect">
            <a:avLst/>
          </a:prstGeom>
          <a:noFill/>
          <a:ln/>
        </p:spPr>
        <p:txBody>
          <a:bodyPr wrap="square" rtlCol="0" anchor="ctr"/>
          <a:lstStyle/>
          <a:p>
            <a:pPr indent="0" marL="0">
              <a:buNone/>
            </a:pPr>
            <a:r>
              <a:rPr lang="en-US" sz="1600" i="1" dirty="0">
                <a:solidFill>
                  <a:srgbClr val="78909C"/>
                </a:solidFill>
                <a:latin typeface="Calibri" pitchFamily="34" charset="0"/>
                <a:ea typeface="Calibri" pitchFamily="34" charset="-122"/>
                <a:cs typeface="Calibri" pitchFamily="34" charset="-120"/>
              </a:rPr>
              <a:t>Login  &amp;  Register</a:t>
            </a:r>
            <a:endParaRPr lang="en-US" sz="1600" dirty="0"/>
          </a:p>
        </p:txBody>
      </p:sp>
      <p:sp>
        <p:nvSpPr>
          <p:cNvPr id="4" name="Shape 2"/>
          <p:cNvSpPr/>
          <p:nvPr/>
        </p:nvSpPr>
        <p:spPr>
          <a:xfrm>
            <a:off x="457200" y="1234440"/>
            <a:ext cx="4023360" cy="3657600"/>
          </a:xfrm>
          <a:prstGeom prst="roundRect">
            <a:avLst>
              <a:gd name="adj" fmla="val 3000"/>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457200" y="1234440"/>
            <a:ext cx="4023360" cy="822960"/>
          </a:xfrm>
          <a:prstGeom prst="roundRect">
            <a:avLst>
              <a:gd name="adj" fmla="val 13333"/>
            </a:avLst>
          </a:prstGeom>
          <a:solidFill>
            <a:srgbClr val="1565C0"/>
          </a:solidFill>
          <a:ln w="12700">
            <a:solidFill>
              <a:srgbClr val="1565C0"/>
            </a:solidFill>
            <a:prstDash val="solid"/>
          </a:ln>
        </p:spPr>
      </p:sp>
      <p:sp>
        <p:nvSpPr>
          <p:cNvPr id="6" name="Shape 4"/>
          <p:cNvSpPr/>
          <p:nvPr/>
        </p:nvSpPr>
        <p:spPr>
          <a:xfrm>
            <a:off x="457200" y="1783080"/>
            <a:ext cx="4023360" cy="274320"/>
          </a:xfrm>
          <a:prstGeom prst="rect">
            <a:avLst/>
          </a:prstGeom>
          <a:solidFill>
            <a:srgbClr val="1565C0"/>
          </a:solidFill>
          <a:ln w="12700">
            <a:solidFill>
              <a:srgbClr val="1565C0"/>
            </a:solidFill>
            <a:prstDash val="solid"/>
          </a:ln>
        </p:spPr>
      </p:sp>
      <p:pic>
        <p:nvPicPr>
          <p:cNvPr id="7" name="Image 0" descr="preencoded.png"/>
          <p:cNvPicPr>
            <a:picLocks noChangeAspect="1"/>
          </p:cNvPicPr>
          <p:nvPr/>
        </p:nvPicPr>
        <p:blipFill>
          <a:blip r:embed="rId1"/>
          <a:stretch>
            <a:fillRect/>
          </a:stretch>
        </p:blipFill>
        <p:spPr>
          <a:xfrm>
            <a:off x="640080" y="1371600"/>
            <a:ext cx="457200" cy="457200"/>
          </a:xfrm>
          <a:prstGeom prst="rect">
            <a:avLst/>
          </a:prstGeom>
        </p:spPr>
      </p:pic>
      <p:sp>
        <p:nvSpPr>
          <p:cNvPr id="8" name="Text 5"/>
          <p:cNvSpPr/>
          <p:nvPr/>
        </p:nvSpPr>
        <p:spPr>
          <a:xfrm>
            <a:off x="1188720" y="1371600"/>
            <a:ext cx="2743200" cy="4114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Login Page</a:t>
            </a:r>
            <a:endParaRPr lang="en-US" sz="1600" dirty="0"/>
          </a:p>
        </p:txBody>
      </p:sp>
      <p:sp>
        <p:nvSpPr>
          <p:cNvPr id="9" name="Text 6"/>
          <p:cNvSpPr/>
          <p:nvPr/>
        </p:nvSpPr>
        <p:spPr>
          <a:xfrm>
            <a:off x="1188720" y="1737360"/>
            <a:ext cx="2743200" cy="274320"/>
          </a:xfrm>
          <a:prstGeom prst="rect">
            <a:avLst/>
          </a:prstGeom>
          <a:noFill/>
          <a:ln/>
        </p:spPr>
        <p:txBody>
          <a:bodyPr wrap="square" rtlCol="0" anchor="ctr"/>
          <a:lstStyle/>
          <a:p>
            <a:pPr indent="0" marL="0">
              <a:buNone/>
            </a:pPr>
            <a:r>
              <a:rPr lang="en-US" sz="1100" dirty="0">
                <a:solidFill>
                  <a:srgbClr val="E3F2FD"/>
                </a:solidFill>
                <a:latin typeface="Calibri" pitchFamily="34" charset="0"/>
                <a:ea typeface="Calibri" pitchFamily="34" charset="-122"/>
                <a:cs typeface="Calibri" pitchFamily="34" charset="-120"/>
              </a:rPr>
              <a:t>/login</a:t>
            </a:r>
            <a:endParaRPr lang="en-US" sz="1100" dirty="0"/>
          </a:p>
        </p:txBody>
      </p:sp>
      <p:sp>
        <p:nvSpPr>
          <p:cNvPr id="10" name="Text 7"/>
          <p:cNvSpPr/>
          <p:nvPr/>
        </p:nvSpPr>
        <p:spPr>
          <a:xfrm>
            <a:off x="640080" y="2240280"/>
            <a:ext cx="3749040" cy="438912"/>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Email + password form validated with Formik &amp; Yup</a:t>
            </a:r>
            <a:endParaRPr lang="en-US" sz="1100" dirty="0"/>
          </a:p>
        </p:txBody>
      </p:sp>
      <p:sp>
        <p:nvSpPr>
          <p:cNvPr id="11" name="Text 8"/>
          <p:cNvSpPr/>
          <p:nvPr/>
        </p:nvSpPr>
        <p:spPr>
          <a:xfrm>
            <a:off x="640080" y="2734056"/>
            <a:ext cx="3749040" cy="438912"/>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Firebase signInWithEmailAndPassword integration</a:t>
            </a:r>
            <a:endParaRPr lang="en-US" sz="1100" dirty="0"/>
          </a:p>
        </p:txBody>
      </p:sp>
      <p:sp>
        <p:nvSpPr>
          <p:cNvPr id="12" name="Text 9"/>
          <p:cNvSpPr/>
          <p:nvPr/>
        </p:nvSpPr>
        <p:spPr>
          <a:xfrm>
            <a:off x="640080" y="3227832"/>
            <a:ext cx="3749040" cy="438912"/>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Animated plane transition on successful login</a:t>
            </a:r>
            <a:endParaRPr lang="en-US" sz="1100" dirty="0"/>
          </a:p>
        </p:txBody>
      </p:sp>
      <p:sp>
        <p:nvSpPr>
          <p:cNvPr id="13" name="Text 10"/>
          <p:cNvSpPr/>
          <p:nvPr/>
        </p:nvSpPr>
        <p:spPr>
          <a:xfrm>
            <a:off x="640080" y="3721608"/>
            <a:ext cx="3749040" cy="438912"/>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JWT token stored in localStorage for session</a:t>
            </a:r>
            <a:endParaRPr lang="en-US" sz="1100" dirty="0"/>
          </a:p>
        </p:txBody>
      </p:sp>
      <p:sp>
        <p:nvSpPr>
          <p:cNvPr id="14" name="Text 11"/>
          <p:cNvSpPr/>
          <p:nvPr/>
        </p:nvSpPr>
        <p:spPr>
          <a:xfrm>
            <a:off x="640080" y="4215384"/>
            <a:ext cx="3749040" cy="438912"/>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Link to Register page for new users</a:t>
            </a:r>
            <a:endParaRPr lang="en-US" sz="1100" dirty="0"/>
          </a:p>
        </p:txBody>
      </p:sp>
      <p:sp>
        <p:nvSpPr>
          <p:cNvPr id="15" name="Shape 12"/>
          <p:cNvSpPr/>
          <p:nvPr/>
        </p:nvSpPr>
        <p:spPr>
          <a:xfrm>
            <a:off x="4846320" y="1234440"/>
            <a:ext cx="4023360" cy="3657600"/>
          </a:xfrm>
          <a:prstGeom prst="roundRect">
            <a:avLst>
              <a:gd name="adj" fmla="val 3000"/>
            </a:avLst>
          </a:prstGeom>
          <a:solidFill>
            <a:srgbClr val="FFFFFF"/>
          </a:solidFill>
          <a:ln/>
          <a:effectLst>
            <a:outerShdw sx="100000" sy="100000" kx="0" ky="0" algn="bl" rotWithShape="0" blurRad="101600" dist="38100" dir="2700000">
              <a:srgbClr val="000000">
                <a:alpha val="12000"/>
              </a:srgbClr>
            </a:outerShdw>
          </a:effectLst>
        </p:spPr>
      </p:sp>
      <p:sp>
        <p:nvSpPr>
          <p:cNvPr id="16" name="Shape 13"/>
          <p:cNvSpPr/>
          <p:nvPr/>
        </p:nvSpPr>
        <p:spPr>
          <a:xfrm>
            <a:off x="4846320" y="1234440"/>
            <a:ext cx="4023360" cy="822960"/>
          </a:xfrm>
          <a:prstGeom prst="roundRect">
            <a:avLst>
              <a:gd name="adj" fmla="val 13333"/>
            </a:avLst>
          </a:prstGeom>
          <a:solidFill>
            <a:srgbClr val="00897B"/>
          </a:solidFill>
          <a:ln w="12700">
            <a:solidFill>
              <a:srgbClr val="00897B"/>
            </a:solidFill>
            <a:prstDash val="solid"/>
          </a:ln>
        </p:spPr>
      </p:sp>
      <p:sp>
        <p:nvSpPr>
          <p:cNvPr id="17" name="Shape 14"/>
          <p:cNvSpPr/>
          <p:nvPr/>
        </p:nvSpPr>
        <p:spPr>
          <a:xfrm>
            <a:off x="4846320" y="1783080"/>
            <a:ext cx="4023360" cy="274320"/>
          </a:xfrm>
          <a:prstGeom prst="rect">
            <a:avLst/>
          </a:prstGeom>
          <a:solidFill>
            <a:srgbClr val="00897B"/>
          </a:solidFill>
          <a:ln w="12700">
            <a:solidFill>
              <a:srgbClr val="00897B"/>
            </a:solidFill>
            <a:prstDash val="solid"/>
          </a:ln>
        </p:spPr>
      </p:sp>
      <p:pic>
        <p:nvPicPr>
          <p:cNvPr id="18" name="Image 1" descr="preencoded.png"/>
          <p:cNvPicPr>
            <a:picLocks noChangeAspect="1"/>
          </p:cNvPicPr>
          <p:nvPr/>
        </p:nvPicPr>
        <p:blipFill>
          <a:blip r:embed="rId2"/>
          <a:stretch>
            <a:fillRect/>
          </a:stretch>
        </p:blipFill>
        <p:spPr>
          <a:xfrm>
            <a:off x="5029200" y="1371600"/>
            <a:ext cx="457200" cy="457200"/>
          </a:xfrm>
          <a:prstGeom prst="rect">
            <a:avLst/>
          </a:prstGeom>
        </p:spPr>
      </p:pic>
      <p:sp>
        <p:nvSpPr>
          <p:cNvPr id="19" name="Text 15"/>
          <p:cNvSpPr/>
          <p:nvPr/>
        </p:nvSpPr>
        <p:spPr>
          <a:xfrm>
            <a:off x="5577840" y="1371600"/>
            <a:ext cx="2743200" cy="4114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Register Page</a:t>
            </a:r>
            <a:endParaRPr lang="en-US" sz="1600" dirty="0"/>
          </a:p>
        </p:txBody>
      </p:sp>
      <p:sp>
        <p:nvSpPr>
          <p:cNvPr id="20" name="Text 16"/>
          <p:cNvSpPr/>
          <p:nvPr/>
        </p:nvSpPr>
        <p:spPr>
          <a:xfrm>
            <a:off x="5577840" y="1737360"/>
            <a:ext cx="2743200" cy="274320"/>
          </a:xfrm>
          <a:prstGeom prst="rect">
            <a:avLst/>
          </a:prstGeom>
          <a:noFill/>
          <a:ln/>
        </p:spPr>
        <p:txBody>
          <a:bodyPr wrap="square" rtlCol="0" anchor="ctr"/>
          <a:lstStyle/>
          <a:p>
            <a:pPr indent="0" marL="0">
              <a:buNone/>
            </a:pPr>
            <a:r>
              <a:rPr lang="en-US" sz="1100" dirty="0">
                <a:solidFill>
                  <a:srgbClr val="E3F2FD"/>
                </a:solidFill>
                <a:latin typeface="Calibri" pitchFamily="34" charset="0"/>
                <a:ea typeface="Calibri" pitchFamily="34" charset="-122"/>
                <a:cs typeface="Calibri" pitchFamily="34" charset="-120"/>
              </a:rPr>
              <a:t>/register</a:t>
            </a:r>
            <a:endParaRPr lang="en-US" sz="1100" dirty="0"/>
          </a:p>
        </p:txBody>
      </p:sp>
      <p:sp>
        <p:nvSpPr>
          <p:cNvPr id="21" name="Text 17"/>
          <p:cNvSpPr/>
          <p:nvPr/>
        </p:nvSpPr>
        <p:spPr>
          <a:xfrm>
            <a:off x="5029200" y="2240280"/>
            <a:ext cx="3749040" cy="438912"/>
          </a:xfrm>
          <a:prstGeom prst="rect">
            <a:avLst/>
          </a:prstGeom>
          <a:noFill/>
          <a:ln/>
        </p:spPr>
        <p:txBody>
          <a:bodyPr wrap="square"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Name, email, phone, and password fields with validation</a:t>
            </a:r>
            <a:endParaRPr lang="en-US" sz="1100" dirty="0"/>
          </a:p>
        </p:txBody>
      </p:sp>
      <p:sp>
        <p:nvSpPr>
          <p:cNvPr id="22" name="Text 18"/>
          <p:cNvSpPr/>
          <p:nvPr/>
        </p:nvSpPr>
        <p:spPr>
          <a:xfrm>
            <a:off x="5029200" y="2734056"/>
            <a:ext cx="3749040" cy="438912"/>
          </a:xfrm>
          <a:prstGeom prst="rect">
            <a:avLst/>
          </a:prstGeom>
          <a:noFill/>
          <a:ln/>
        </p:spPr>
        <p:txBody>
          <a:bodyPr wrap="square"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Firebase createUserWithEmailAndPassword + updateProfile</a:t>
            </a:r>
            <a:endParaRPr lang="en-US" sz="1100" dirty="0"/>
          </a:p>
        </p:txBody>
      </p:sp>
      <p:sp>
        <p:nvSpPr>
          <p:cNvPr id="23" name="Text 19"/>
          <p:cNvSpPr/>
          <p:nvPr/>
        </p:nvSpPr>
        <p:spPr>
          <a:xfrm>
            <a:off x="5029200" y="3227832"/>
            <a:ext cx="3749040" cy="438912"/>
          </a:xfrm>
          <a:prstGeom prst="rect">
            <a:avLst/>
          </a:prstGeom>
          <a:noFill/>
          <a:ln/>
        </p:spPr>
        <p:txBody>
          <a:bodyPr wrap="square"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Stores user's displayName in Firebase Auth profile</a:t>
            </a:r>
            <a:endParaRPr lang="en-US" sz="1100" dirty="0"/>
          </a:p>
        </p:txBody>
      </p:sp>
      <p:sp>
        <p:nvSpPr>
          <p:cNvPr id="24" name="Text 20"/>
          <p:cNvSpPr/>
          <p:nvPr/>
        </p:nvSpPr>
        <p:spPr>
          <a:xfrm>
            <a:off x="5029200" y="3721608"/>
            <a:ext cx="3749040" cy="438912"/>
          </a:xfrm>
          <a:prstGeom prst="rect">
            <a:avLst/>
          </a:prstGeom>
          <a:noFill/>
          <a:ln/>
        </p:spPr>
        <p:txBody>
          <a:bodyPr wrap="square"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Animated success transition before redirecting home</a:t>
            </a:r>
            <a:endParaRPr lang="en-US" sz="1100" dirty="0"/>
          </a:p>
        </p:txBody>
      </p:sp>
      <p:sp>
        <p:nvSpPr>
          <p:cNvPr id="25" name="Text 21"/>
          <p:cNvSpPr/>
          <p:nvPr/>
        </p:nvSpPr>
        <p:spPr>
          <a:xfrm>
            <a:off x="5029200" y="4215384"/>
            <a:ext cx="3749040" cy="438912"/>
          </a:xfrm>
          <a:prstGeom prst="rect">
            <a:avLst/>
          </a:prstGeom>
          <a:noFill/>
          <a:ln/>
        </p:spPr>
        <p:txBody>
          <a:bodyPr wrap="square"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xml:space="preserve">✓  </a:t>
            </a:r>
            <a:pPr indent="0" marL="0">
              <a:buNone/>
            </a:pPr>
            <a:r>
              <a:rPr lang="en-US" sz="1100" dirty="0">
                <a:solidFill>
                  <a:srgbClr val="37474F"/>
                </a:solidFill>
                <a:latin typeface="Calibri" pitchFamily="34" charset="0"/>
                <a:ea typeface="Calibri" pitchFamily="34" charset="-122"/>
                <a:cs typeface="Calibri" pitchFamily="34" charset="-120"/>
              </a:rPr>
              <a:t>Yup schema validation for all fields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B4E"/>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Flights Page</a:t>
            </a:r>
            <a:endParaRPr lang="en-US" sz="3000" dirty="0"/>
          </a:p>
        </p:txBody>
      </p:sp>
      <p:sp>
        <p:nvSpPr>
          <p:cNvPr id="3" name="Text 1"/>
          <p:cNvSpPr/>
          <p:nvPr/>
        </p:nvSpPr>
        <p:spPr>
          <a:xfrm>
            <a:off x="457200" y="804672"/>
            <a:ext cx="8229600" cy="347472"/>
          </a:xfrm>
          <a:prstGeom prst="rect">
            <a:avLst/>
          </a:prstGeom>
          <a:noFill/>
          <a:ln/>
        </p:spPr>
        <p:txBody>
          <a:bodyPr wrap="square" rtlCol="0" anchor="ctr"/>
          <a:lstStyle/>
          <a:p>
            <a:pPr indent="0" marL="0">
              <a:buNone/>
            </a:pPr>
            <a:r>
              <a:rPr lang="en-US" sz="1400" i="1" dirty="0">
                <a:solidFill>
                  <a:srgbClr val="FF8F00"/>
                </a:solidFill>
                <a:latin typeface="Calibri" pitchFamily="34" charset="0"/>
                <a:ea typeface="Calibri" pitchFamily="34" charset="-122"/>
                <a:cs typeface="Calibri" pitchFamily="34" charset="-120"/>
              </a:rPr>
              <a:t>Real-time flight search powered by RapidAPI flights-sky</a:t>
            </a:r>
            <a:endParaRPr lang="en-US" sz="1400" dirty="0"/>
          </a:p>
        </p:txBody>
      </p:sp>
      <p:sp>
        <p:nvSpPr>
          <p:cNvPr id="4" name="Shape 2"/>
          <p:cNvSpPr/>
          <p:nvPr/>
        </p:nvSpPr>
        <p:spPr>
          <a:xfrm>
            <a:off x="411480" y="1234440"/>
            <a:ext cx="4114800" cy="822960"/>
          </a:xfrm>
          <a:prstGeom prst="roundRect">
            <a:avLst>
              <a:gd name="adj" fmla="val 10000"/>
            </a:avLst>
          </a:prstGeom>
          <a:solidFill>
            <a:srgbClr val="1565C0"/>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280160"/>
            <a:ext cx="3749040" cy="274320"/>
          </a:xfrm>
          <a:prstGeom prst="rect">
            <a:avLst/>
          </a:prstGeom>
          <a:noFill/>
          <a:ln/>
        </p:spPr>
        <p:txBody>
          <a:bodyPr wrap="square" rtlCol="0" anchor="ctr"/>
          <a:lstStyle/>
          <a:p>
            <a:pPr indent="0" marL="0">
              <a:buNone/>
            </a:pPr>
            <a:r>
              <a:rPr lang="en-US" sz="1200" b="1" dirty="0">
                <a:solidFill>
                  <a:srgbClr val="FF8F00"/>
                </a:solidFill>
                <a:latin typeface="Calibri" pitchFamily="34" charset="0"/>
                <a:ea typeface="Calibri" pitchFamily="34" charset="-122"/>
                <a:cs typeface="Calibri" pitchFamily="34" charset="-120"/>
              </a:rPr>
              <a:t>Purpose</a:t>
            </a:r>
            <a:endParaRPr lang="en-US" sz="1200" dirty="0"/>
          </a:p>
        </p:txBody>
      </p:sp>
      <p:sp>
        <p:nvSpPr>
          <p:cNvPr id="6" name="Text 4"/>
          <p:cNvSpPr/>
          <p:nvPr/>
        </p:nvSpPr>
        <p:spPr>
          <a:xfrm>
            <a:off x="594360" y="1572768"/>
            <a:ext cx="3749040" cy="457200"/>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Search one-way flights globally with live pricing and filtering options.</a:t>
            </a:r>
            <a:endParaRPr lang="en-US" sz="1050" dirty="0"/>
          </a:p>
        </p:txBody>
      </p:sp>
      <p:sp>
        <p:nvSpPr>
          <p:cNvPr id="7" name="Shape 5"/>
          <p:cNvSpPr/>
          <p:nvPr/>
        </p:nvSpPr>
        <p:spPr>
          <a:xfrm>
            <a:off x="411480" y="2167128"/>
            <a:ext cx="4114800" cy="822960"/>
          </a:xfrm>
          <a:prstGeom prst="roundRect">
            <a:avLst>
              <a:gd name="adj" fmla="val 10000"/>
            </a:avLst>
          </a:prstGeom>
          <a:solidFill>
            <a:srgbClr val="1565C0"/>
          </a:solidFill>
          <a:ln/>
          <a:effectLst>
            <a:outerShdw sx="100000" sy="100000" kx="0" ky="0" algn="bl" rotWithShape="0" blurRad="101600" dist="38100" dir="2700000">
              <a:srgbClr val="000000">
                <a:alpha val="12000"/>
              </a:srgbClr>
            </a:outerShdw>
          </a:effectLst>
        </p:spPr>
      </p:sp>
      <p:sp>
        <p:nvSpPr>
          <p:cNvPr id="8" name="Text 6"/>
          <p:cNvSpPr/>
          <p:nvPr/>
        </p:nvSpPr>
        <p:spPr>
          <a:xfrm>
            <a:off x="594360" y="2212848"/>
            <a:ext cx="3749040" cy="274320"/>
          </a:xfrm>
          <a:prstGeom prst="rect">
            <a:avLst/>
          </a:prstGeom>
          <a:noFill/>
          <a:ln/>
        </p:spPr>
        <p:txBody>
          <a:bodyPr wrap="square" rtlCol="0" anchor="ctr"/>
          <a:lstStyle/>
          <a:p>
            <a:pPr indent="0" marL="0">
              <a:buNone/>
            </a:pPr>
            <a:r>
              <a:rPr lang="en-US" sz="1200" b="1" dirty="0">
                <a:solidFill>
                  <a:srgbClr val="FF8F00"/>
                </a:solidFill>
                <a:latin typeface="Calibri" pitchFamily="34" charset="0"/>
                <a:ea typeface="Calibri" pitchFamily="34" charset="-122"/>
                <a:cs typeface="Calibri" pitchFamily="34" charset="-120"/>
              </a:rPr>
              <a:t>Search Inputs</a:t>
            </a:r>
            <a:endParaRPr lang="en-US" sz="1200" dirty="0"/>
          </a:p>
        </p:txBody>
      </p:sp>
      <p:sp>
        <p:nvSpPr>
          <p:cNvPr id="9" name="Text 7"/>
          <p:cNvSpPr/>
          <p:nvPr/>
        </p:nvSpPr>
        <p:spPr>
          <a:xfrm>
            <a:off x="594360" y="2505456"/>
            <a:ext cx="3749040" cy="457200"/>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Origin &amp; destination with live autocomplete, departure date picker, passenger count and cabin class.</a:t>
            </a:r>
            <a:endParaRPr lang="en-US" sz="1050" dirty="0"/>
          </a:p>
        </p:txBody>
      </p:sp>
      <p:sp>
        <p:nvSpPr>
          <p:cNvPr id="10" name="Shape 8"/>
          <p:cNvSpPr/>
          <p:nvPr/>
        </p:nvSpPr>
        <p:spPr>
          <a:xfrm>
            <a:off x="411480" y="3099816"/>
            <a:ext cx="4114800" cy="822960"/>
          </a:xfrm>
          <a:prstGeom prst="roundRect">
            <a:avLst>
              <a:gd name="adj" fmla="val 10000"/>
            </a:avLst>
          </a:prstGeom>
          <a:solidFill>
            <a:srgbClr val="1565C0"/>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3145536"/>
            <a:ext cx="3749040" cy="274320"/>
          </a:xfrm>
          <a:prstGeom prst="rect">
            <a:avLst/>
          </a:prstGeom>
          <a:noFill/>
          <a:ln/>
        </p:spPr>
        <p:txBody>
          <a:bodyPr wrap="square" rtlCol="0" anchor="ctr"/>
          <a:lstStyle/>
          <a:p>
            <a:pPr indent="0" marL="0">
              <a:buNone/>
            </a:pPr>
            <a:r>
              <a:rPr lang="en-US" sz="1200" b="1" dirty="0">
                <a:solidFill>
                  <a:srgbClr val="FF8F00"/>
                </a:solidFill>
                <a:latin typeface="Calibri" pitchFamily="34" charset="0"/>
                <a:ea typeface="Calibri" pitchFamily="34" charset="-122"/>
                <a:cs typeface="Calibri" pitchFamily="34" charset="-120"/>
              </a:rPr>
              <a:t>Smart Filters</a:t>
            </a:r>
            <a:endParaRPr lang="en-US" sz="1200" dirty="0"/>
          </a:p>
        </p:txBody>
      </p:sp>
      <p:sp>
        <p:nvSpPr>
          <p:cNvPr id="12" name="Text 10"/>
          <p:cNvSpPr/>
          <p:nvPr/>
        </p:nvSpPr>
        <p:spPr>
          <a:xfrm>
            <a:off x="594360" y="3438144"/>
            <a:ext cx="3749040" cy="457200"/>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Nonstop / 1-stop, morning departures, under $500, refundable, economy class, plus low-to-high price sorting.</a:t>
            </a:r>
            <a:endParaRPr lang="en-US" sz="1050" dirty="0"/>
          </a:p>
        </p:txBody>
      </p:sp>
      <p:sp>
        <p:nvSpPr>
          <p:cNvPr id="13" name="Shape 11"/>
          <p:cNvSpPr/>
          <p:nvPr/>
        </p:nvSpPr>
        <p:spPr>
          <a:xfrm>
            <a:off x="411480" y="4032504"/>
            <a:ext cx="4114800" cy="822960"/>
          </a:xfrm>
          <a:prstGeom prst="roundRect">
            <a:avLst>
              <a:gd name="adj" fmla="val 10000"/>
            </a:avLst>
          </a:prstGeom>
          <a:solidFill>
            <a:srgbClr val="1565C0"/>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4078224"/>
            <a:ext cx="3749040" cy="274320"/>
          </a:xfrm>
          <a:prstGeom prst="rect">
            <a:avLst/>
          </a:prstGeom>
          <a:noFill/>
          <a:ln/>
        </p:spPr>
        <p:txBody>
          <a:bodyPr wrap="square" rtlCol="0" anchor="ctr"/>
          <a:lstStyle/>
          <a:p>
            <a:pPr indent="0" marL="0">
              <a:buNone/>
            </a:pPr>
            <a:r>
              <a:rPr lang="en-US" sz="1200" b="1" dirty="0">
                <a:solidFill>
                  <a:srgbClr val="FF8F00"/>
                </a:solidFill>
                <a:latin typeface="Calibri" pitchFamily="34" charset="0"/>
                <a:ea typeface="Calibri" pitchFamily="34" charset="-122"/>
                <a:cs typeface="Calibri" pitchFamily="34" charset="-120"/>
              </a:rPr>
              <a:t>Flight Cards</a:t>
            </a:r>
            <a:endParaRPr lang="en-US" sz="1200" dirty="0"/>
          </a:p>
        </p:txBody>
      </p:sp>
      <p:sp>
        <p:nvSpPr>
          <p:cNvPr id="15" name="Text 13"/>
          <p:cNvSpPr/>
          <p:nvPr/>
        </p:nvSpPr>
        <p:spPr>
          <a:xfrm>
            <a:off x="594360" y="4370832"/>
            <a:ext cx="3749040" cy="457200"/>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Expandable cards show airline, stops, duration, departure/arrival times, and price. Expandable for full leg details.</a:t>
            </a:r>
            <a:endParaRPr lang="en-US" sz="1050" dirty="0"/>
          </a:p>
        </p:txBody>
      </p:sp>
      <p:sp>
        <p:nvSpPr>
          <p:cNvPr id="16" name="Shape 14"/>
          <p:cNvSpPr/>
          <p:nvPr/>
        </p:nvSpPr>
        <p:spPr>
          <a:xfrm>
            <a:off x="4754880" y="1234440"/>
            <a:ext cx="3977640" cy="3657600"/>
          </a:xfrm>
          <a:prstGeom prst="roundRect">
            <a:avLst>
              <a:gd name="adj" fmla="val 3000"/>
            </a:avLst>
          </a:prstGeom>
          <a:solidFill>
            <a:srgbClr val="1565C0"/>
          </a:solidFill>
          <a:ln/>
          <a:effectLst>
            <a:outerShdw sx="100000" sy="100000" kx="0" ky="0" algn="bl" rotWithShape="0" blurRad="101600" dist="38100" dir="2700000">
              <a:srgbClr val="000000">
                <a:alpha val="12000"/>
              </a:srgbClr>
            </a:outerShdw>
          </a:effectLst>
        </p:spPr>
      </p:sp>
      <p:sp>
        <p:nvSpPr>
          <p:cNvPr id="17" name="Text 15"/>
          <p:cNvSpPr/>
          <p:nvPr/>
        </p:nvSpPr>
        <p:spPr>
          <a:xfrm>
            <a:off x="4937760" y="1371600"/>
            <a:ext cx="365760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User Actions</a:t>
            </a:r>
            <a:endParaRPr lang="en-US" sz="1500" dirty="0"/>
          </a:p>
        </p:txBody>
      </p:sp>
      <p:sp>
        <p:nvSpPr>
          <p:cNvPr id="18" name="Shape 16"/>
          <p:cNvSpPr/>
          <p:nvPr/>
        </p:nvSpPr>
        <p:spPr>
          <a:xfrm>
            <a:off x="4937760" y="1901952"/>
            <a:ext cx="128016" cy="128016"/>
          </a:xfrm>
          <a:prstGeom prst="ellipse">
            <a:avLst/>
          </a:prstGeom>
          <a:solidFill>
            <a:srgbClr val="FF8F00"/>
          </a:solidFill>
          <a:ln w="12700">
            <a:solidFill>
              <a:srgbClr val="FF8F00"/>
            </a:solidFill>
            <a:prstDash val="solid"/>
          </a:ln>
        </p:spPr>
      </p:sp>
      <p:sp>
        <p:nvSpPr>
          <p:cNvPr id="19" name="Text 17"/>
          <p:cNvSpPr/>
          <p:nvPr/>
        </p:nvSpPr>
        <p:spPr>
          <a:xfrm>
            <a:off x="5166360" y="1847088"/>
            <a:ext cx="3429000" cy="402336"/>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Type origin / destination → debounced autocomplete suggestions</a:t>
            </a:r>
            <a:endParaRPr lang="en-US" sz="1050" dirty="0"/>
          </a:p>
        </p:txBody>
      </p:sp>
      <p:sp>
        <p:nvSpPr>
          <p:cNvPr id="20" name="Shape 18"/>
          <p:cNvSpPr/>
          <p:nvPr/>
        </p:nvSpPr>
        <p:spPr>
          <a:xfrm>
            <a:off x="4937760" y="2359152"/>
            <a:ext cx="128016" cy="128016"/>
          </a:xfrm>
          <a:prstGeom prst="ellipse">
            <a:avLst/>
          </a:prstGeom>
          <a:solidFill>
            <a:srgbClr val="FF8F00"/>
          </a:solidFill>
          <a:ln w="12700">
            <a:solidFill>
              <a:srgbClr val="FF8F00"/>
            </a:solidFill>
            <a:prstDash val="solid"/>
          </a:ln>
        </p:spPr>
      </p:sp>
      <p:sp>
        <p:nvSpPr>
          <p:cNvPr id="21" name="Text 19"/>
          <p:cNvSpPr/>
          <p:nvPr/>
        </p:nvSpPr>
        <p:spPr>
          <a:xfrm>
            <a:off x="5166360" y="2304288"/>
            <a:ext cx="3429000" cy="402336"/>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Select date and search → API call to flights-sky RapidAPI</a:t>
            </a:r>
            <a:endParaRPr lang="en-US" sz="1050" dirty="0"/>
          </a:p>
        </p:txBody>
      </p:sp>
      <p:sp>
        <p:nvSpPr>
          <p:cNvPr id="22" name="Shape 20"/>
          <p:cNvSpPr/>
          <p:nvPr/>
        </p:nvSpPr>
        <p:spPr>
          <a:xfrm>
            <a:off x="4937760" y="2816352"/>
            <a:ext cx="128016" cy="128016"/>
          </a:xfrm>
          <a:prstGeom prst="ellipse">
            <a:avLst/>
          </a:prstGeom>
          <a:solidFill>
            <a:srgbClr val="FF8F00"/>
          </a:solidFill>
          <a:ln w="12700">
            <a:solidFill>
              <a:srgbClr val="FF8F00"/>
            </a:solidFill>
            <a:prstDash val="solid"/>
          </a:ln>
        </p:spPr>
      </p:sp>
      <p:sp>
        <p:nvSpPr>
          <p:cNvPr id="23" name="Text 21"/>
          <p:cNvSpPr/>
          <p:nvPr/>
        </p:nvSpPr>
        <p:spPr>
          <a:xfrm>
            <a:off x="5166360" y="2761488"/>
            <a:ext cx="3429000" cy="402336"/>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Apply filters to narrow results in real time</a:t>
            </a:r>
            <a:endParaRPr lang="en-US" sz="1050" dirty="0"/>
          </a:p>
        </p:txBody>
      </p:sp>
      <p:sp>
        <p:nvSpPr>
          <p:cNvPr id="24" name="Shape 22"/>
          <p:cNvSpPr/>
          <p:nvPr/>
        </p:nvSpPr>
        <p:spPr>
          <a:xfrm>
            <a:off x="4937760" y="3273552"/>
            <a:ext cx="128016" cy="128016"/>
          </a:xfrm>
          <a:prstGeom prst="ellipse">
            <a:avLst/>
          </a:prstGeom>
          <a:solidFill>
            <a:srgbClr val="FF8F00"/>
          </a:solidFill>
          <a:ln w="12700">
            <a:solidFill>
              <a:srgbClr val="FF8F00"/>
            </a:solidFill>
            <a:prstDash val="solid"/>
          </a:ln>
        </p:spPr>
      </p:sp>
      <p:sp>
        <p:nvSpPr>
          <p:cNvPr id="25" name="Text 23"/>
          <p:cNvSpPr/>
          <p:nvPr/>
        </p:nvSpPr>
        <p:spPr>
          <a:xfrm>
            <a:off x="5166360" y="3218688"/>
            <a:ext cx="3429000" cy="402336"/>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Expand a flight card for full itinerary details</a:t>
            </a:r>
            <a:endParaRPr lang="en-US" sz="1050" dirty="0"/>
          </a:p>
        </p:txBody>
      </p:sp>
      <p:sp>
        <p:nvSpPr>
          <p:cNvPr id="26" name="Shape 24"/>
          <p:cNvSpPr/>
          <p:nvPr/>
        </p:nvSpPr>
        <p:spPr>
          <a:xfrm>
            <a:off x="4937760" y="3730752"/>
            <a:ext cx="128016" cy="128016"/>
          </a:xfrm>
          <a:prstGeom prst="ellipse">
            <a:avLst/>
          </a:prstGeom>
          <a:solidFill>
            <a:srgbClr val="FF8F00"/>
          </a:solidFill>
          <a:ln w="12700">
            <a:solidFill>
              <a:srgbClr val="FF8F00"/>
            </a:solidFill>
            <a:prstDash val="solid"/>
          </a:ln>
        </p:spPr>
      </p:sp>
      <p:sp>
        <p:nvSpPr>
          <p:cNvPr id="27" name="Text 25"/>
          <p:cNvSpPr/>
          <p:nvPr/>
        </p:nvSpPr>
        <p:spPr>
          <a:xfrm>
            <a:off x="5166360" y="3675888"/>
            <a:ext cx="3429000" cy="402336"/>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Save a flight → added to your saved flights list</a:t>
            </a:r>
            <a:endParaRPr lang="en-US" sz="1050" dirty="0"/>
          </a:p>
        </p:txBody>
      </p:sp>
      <p:sp>
        <p:nvSpPr>
          <p:cNvPr id="28" name="Shape 26"/>
          <p:cNvSpPr/>
          <p:nvPr/>
        </p:nvSpPr>
        <p:spPr>
          <a:xfrm>
            <a:off x="4937760" y="4187952"/>
            <a:ext cx="128016" cy="128016"/>
          </a:xfrm>
          <a:prstGeom prst="ellipse">
            <a:avLst/>
          </a:prstGeom>
          <a:solidFill>
            <a:srgbClr val="FF8F00"/>
          </a:solidFill>
          <a:ln w="12700">
            <a:solidFill>
              <a:srgbClr val="FF8F00"/>
            </a:solidFill>
            <a:prstDash val="solid"/>
          </a:ln>
        </p:spPr>
      </p:sp>
      <p:sp>
        <p:nvSpPr>
          <p:cNvPr id="29" name="Text 27"/>
          <p:cNvSpPr/>
          <p:nvPr/>
        </p:nvSpPr>
        <p:spPr>
          <a:xfrm>
            <a:off x="5166360" y="4133088"/>
            <a:ext cx="3429000" cy="402336"/>
          </a:xfrm>
          <a:prstGeom prst="rect">
            <a:avLst/>
          </a:prstGeom>
          <a:noFill/>
          <a:ln/>
        </p:spPr>
        <p:txBody>
          <a:bodyPr wrap="square" rtlCol="0" anchor="ctr"/>
          <a:lstStyle/>
          <a:p>
            <a:pPr indent="0" marL="0">
              <a:buNone/>
            </a:pPr>
            <a:r>
              <a:rPr lang="en-US" sz="1050" dirty="0">
                <a:solidFill>
                  <a:srgbClr val="E3F2FD"/>
                </a:solidFill>
                <a:latin typeface="Calibri" pitchFamily="34" charset="0"/>
                <a:ea typeface="Calibri" pitchFamily="34" charset="-122"/>
                <a:cs typeface="Calibri" pitchFamily="34" charset="-120"/>
              </a:rPr>
              <a:t>View full flight details — airline, stops, duration, departure/arrival times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D2B4E"/>
                </a:solidFill>
                <a:latin typeface="Cambria" pitchFamily="34" charset="0"/>
                <a:ea typeface="Cambria" pitchFamily="34" charset="-122"/>
                <a:cs typeface="Cambria" pitchFamily="34" charset="-120"/>
              </a:rPr>
              <a:t>Destinations Page</a:t>
            </a:r>
            <a:endParaRPr lang="en-US" sz="3000" dirty="0"/>
          </a:p>
        </p:txBody>
      </p:sp>
      <p:sp>
        <p:nvSpPr>
          <p:cNvPr id="3" name="Text 1"/>
          <p:cNvSpPr/>
          <p:nvPr/>
        </p:nvSpPr>
        <p:spPr>
          <a:xfrm>
            <a:off x="457200" y="804672"/>
            <a:ext cx="8229600" cy="347472"/>
          </a:xfrm>
          <a:prstGeom prst="rect">
            <a:avLst/>
          </a:prstGeom>
          <a:noFill/>
          <a:ln/>
        </p:spPr>
        <p:txBody>
          <a:bodyPr wrap="square" rtlCol="0" anchor="ctr"/>
          <a:lstStyle/>
          <a:p>
            <a:pPr indent="0" marL="0">
              <a:buNone/>
            </a:pPr>
            <a:r>
              <a:rPr lang="en-US" sz="1300" i="1" dirty="0">
                <a:solidFill>
                  <a:srgbClr val="78909C"/>
                </a:solidFill>
                <a:latin typeface="Calibri" pitchFamily="34" charset="0"/>
                <a:ea typeface="Calibri" pitchFamily="34" charset="-122"/>
                <a:cs typeface="Calibri" pitchFamily="34" charset="-120"/>
              </a:rPr>
              <a:t>Explore the world — browse countries, landmarks, and AI-generated itineraries</a:t>
            </a:r>
            <a:endParaRPr lang="en-US" sz="1300" dirty="0"/>
          </a:p>
        </p:txBody>
      </p:sp>
      <p:sp>
        <p:nvSpPr>
          <p:cNvPr id="4" name="Shape 2"/>
          <p:cNvSpPr/>
          <p:nvPr/>
        </p:nvSpPr>
        <p:spPr>
          <a:xfrm>
            <a:off x="411480" y="1234440"/>
            <a:ext cx="2697480" cy="365760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411480" y="1234440"/>
            <a:ext cx="2697480" cy="594360"/>
          </a:xfrm>
          <a:prstGeom prst="roundRect">
            <a:avLst>
              <a:gd name="adj" fmla="val 15385"/>
            </a:avLst>
          </a:prstGeom>
          <a:solidFill>
            <a:srgbClr val="1565C0"/>
          </a:solidFill>
          <a:ln w="12700">
            <a:solidFill>
              <a:srgbClr val="1565C0"/>
            </a:solidFill>
            <a:prstDash val="solid"/>
          </a:ln>
        </p:spPr>
      </p:sp>
      <p:sp>
        <p:nvSpPr>
          <p:cNvPr id="6" name="Shape 4"/>
          <p:cNvSpPr/>
          <p:nvPr/>
        </p:nvSpPr>
        <p:spPr>
          <a:xfrm>
            <a:off x="411480" y="1600200"/>
            <a:ext cx="2697480" cy="228600"/>
          </a:xfrm>
          <a:prstGeom prst="rect">
            <a:avLst/>
          </a:prstGeom>
          <a:solidFill>
            <a:srgbClr val="1565C0"/>
          </a:solidFill>
          <a:ln w="12700">
            <a:solidFill>
              <a:srgbClr val="1565C0"/>
            </a:solidFill>
            <a:prstDash val="solid"/>
          </a:ln>
        </p:spPr>
      </p:sp>
      <p:sp>
        <p:nvSpPr>
          <p:cNvPr id="7" name="Text 5"/>
          <p:cNvSpPr/>
          <p:nvPr/>
        </p:nvSpPr>
        <p:spPr>
          <a:xfrm>
            <a:off x="548640" y="1298448"/>
            <a:ext cx="2468880" cy="45720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Countries Tab</a:t>
            </a:r>
            <a:endParaRPr lang="en-US" sz="1300" dirty="0"/>
          </a:p>
        </p:txBody>
      </p:sp>
      <p:sp>
        <p:nvSpPr>
          <p:cNvPr id="8" name="Text 6"/>
          <p:cNvSpPr/>
          <p:nvPr/>
        </p:nvSpPr>
        <p:spPr>
          <a:xfrm>
            <a:off x="548640" y="1965960"/>
            <a:ext cx="2468880" cy="47548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Browse 190 preloaded countries</a:t>
            </a:r>
            <a:endParaRPr lang="en-US" sz="1050" dirty="0"/>
          </a:p>
        </p:txBody>
      </p:sp>
      <p:sp>
        <p:nvSpPr>
          <p:cNvPr id="9" name="Text 7"/>
          <p:cNvSpPr/>
          <p:nvPr/>
        </p:nvSpPr>
        <p:spPr>
          <a:xfrm>
            <a:off x="548640" y="2496312"/>
            <a:ext cx="2468880" cy="47548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Filter by category (Beach, City, Nature…)</a:t>
            </a:r>
            <a:endParaRPr lang="en-US" sz="1050" dirty="0"/>
          </a:p>
        </p:txBody>
      </p:sp>
      <p:sp>
        <p:nvSpPr>
          <p:cNvPr id="10" name="Text 8"/>
          <p:cNvSpPr/>
          <p:nvPr/>
        </p:nvSpPr>
        <p:spPr>
          <a:xfrm>
            <a:off x="548640" y="3026664"/>
            <a:ext cx="2468880" cy="47548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Sort by popular / alphabetical</a:t>
            </a:r>
            <a:endParaRPr lang="en-US" sz="1050" dirty="0"/>
          </a:p>
        </p:txBody>
      </p:sp>
      <p:sp>
        <p:nvSpPr>
          <p:cNvPr id="11" name="Text 9"/>
          <p:cNvSpPr/>
          <p:nvPr/>
        </p:nvSpPr>
        <p:spPr>
          <a:xfrm>
            <a:off x="548640" y="3557016"/>
            <a:ext cx="2468880" cy="47548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Add countries to wishlist</a:t>
            </a:r>
            <a:endParaRPr lang="en-US" sz="1050" dirty="0"/>
          </a:p>
        </p:txBody>
      </p:sp>
      <p:sp>
        <p:nvSpPr>
          <p:cNvPr id="12" name="Text 10"/>
          <p:cNvSpPr/>
          <p:nvPr/>
        </p:nvSpPr>
        <p:spPr>
          <a:xfrm>
            <a:off x="548640" y="4087368"/>
            <a:ext cx="2468880" cy="47548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Click to explore landmarks &amp; details</a:t>
            </a:r>
            <a:endParaRPr lang="en-US" sz="1050" dirty="0"/>
          </a:p>
        </p:txBody>
      </p:sp>
      <p:sp>
        <p:nvSpPr>
          <p:cNvPr id="13" name="Shape 11"/>
          <p:cNvSpPr/>
          <p:nvPr/>
        </p:nvSpPr>
        <p:spPr>
          <a:xfrm>
            <a:off x="3291840" y="1234440"/>
            <a:ext cx="2697480" cy="365760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3291840" y="1234440"/>
            <a:ext cx="2697480" cy="594360"/>
          </a:xfrm>
          <a:prstGeom prst="roundRect">
            <a:avLst>
              <a:gd name="adj" fmla="val 15385"/>
            </a:avLst>
          </a:prstGeom>
          <a:solidFill>
            <a:srgbClr val="FF8F00"/>
          </a:solidFill>
          <a:ln w="12700">
            <a:solidFill>
              <a:srgbClr val="FF8F00"/>
            </a:solidFill>
            <a:prstDash val="solid"/>
          </a:ln>
        </p:spPr>
      </p:sp>
      <p:sp>
        <p:nvSpPr>
          <p:cNvPr id="15" name="Shape 13"/>
          <p:cNvSpPr/>
          <p:nvPr/>
        </p:nvSpPr>
        <p:spPr>
          <a:xfrm>
            <a:off x="3291840" y="1600200"/>
            <a:ext cx="2697480" cy="228600"/>
          </a:xfrm>
          <a:prstGeom prst="rect">
            <a:avLst/>
          </a:prstGeom>
          <a:solidFill>
            <a:srgbClr val="FF8F00"/>
          </a:solidFill>
          <a:ln w="12700">
            <a:solidFill>
              <a:srgbClr val="FF8F00"/>
            </a:solidFill>
            <a:prstDash val="solid"/>
          </a:ln>
        </p:spPr>
      </p:sp>
      <p:sp>
        <p:nvSpPr>
          <p:cNvPr id="16" name="Text 14"/>
          <p:cNvSpPr/>
          <p:nvPr/>
        </p:nvSpPr>
        <p:spPr>
          <a:xfrm>
            <a:off x="3429000" y="1298448"/>
            <a:ext cx="2468880" cy="45720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AI Explore Tab</a:t>
            </a:r>
            <a:endParaRPr lang="en-US" sz="1300" dirty="0"/>
          </a:p>
        </p:txBody>
      </p:sp>
      <p:sp>
        <p:nvSpPr>
          <p:cNvPr id="17" name="Text 15"/>
          <p:cNvSpPr/>
          <p:nvPr/>
        </p:nvSpPr>
        <p:spPr>
          <a:xfrm>
            <a:off x="3429000" y="1965960"/>
            <a:ext cx="2468880" cy="475488"/>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Natural-language destination search</a:t>
            </a:r>
            <a:endParaRPr lang="en-US" sz="1050" dirty="0"/>
          </a:p>
        </p:txBody>
      </p:sp>
      <p:sp>
        <p:nvSpPr>
          <p:cNvPr id="18" name="Text 16"/>
          <p:cNvSpPr/>
          <p:nvPr/>
        </p:nvSpPr>
        <p:spPr>
          <a:xfrm>
            <a:off x="3429000" y="2496312"/>
            <a:ext cx="2468880" cy="475488"/>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Powered by Google Gemini AI</a:t>
            </a:r>
            <a:endParaRPr lang="en-US" sz="1050" dirty="0"/>
          </a:p>
        </p:txBody>
      </p:sp>
      <p:sp>
        <p:nvSpPr>
          <p:cNvPr id="19" name="Text 17"/>
          <p:cNvSpPr/>
          <p:nvPr/>
        </p:nvSpPr>
        <p:spPr>
          <a:xfrm>
            <a:off x="3429000" y="3026664"/>
            <a:ext cx="2468880" cy="475488"/>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Returns rich destination profile</a:t>
            </a:r>
            <a:endParaRPr lang="en-US" sz="1050" dirty="0"/>
          </a:p>
        </p:txBody>
      </p:sp>
      <p:sp>
        <p:nvSpPr>
          <p:cNvPr id="20" name="Text 18"/>
          <p:cNvSpPr/>
          <p:nvPr/>
        </p:nvSpPr>
        <p:spPr>
          <a:xfrm>
            <a:off x="3429000" y="3557016"/>
            <a:ext cx="2468880" cy="475488"/>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Includes hotels, landmarks, best months</a:t>
            </a:r>
            <a:endParaRPr lang="en-US" sz="1050" dirty="0"/>
          </a:p>
        </p:txBody>
      </p:sp>
      <p:sp>
        <p:nvSpPr>
          <p:cNvPr id="21" name="Text 19"/>
          <p:cNvSpPr/>
          <p:nvPr/>
        </p:nvSpPr>
        <p:spPr>
          <a:xfrm>
            <a:off x="3429000" y="4087368"/>
            <a:ext cx="2468880" cy="475488"/>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Full-screen result overlay</a:t>
            </a:r>
            <a:endParaRPr lang="en-US" sz="1050" dirty="0"/>
          </a:p>
        </p:txBody>
      </p:sp>
      <p:sp>
        <p:nvSpPr>
          <p:cNvPr id="22" name="Shape 20"/>
          <p:cNvSpPr/>
          <p:nvPr/>
        </p:nvSpPr>
        <p:spPr>
          <a:xfrm>
            <a:off x="6172200" y="1234440"/>
            <a:ext cx="2697480" cy="365760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23" name="Shape 21"/>
          <p:cNvSpPr/>
          <p:nvPr/>
        </p:nvSpPr>
        <p:spPr>
          <a:xfrm>
            <a:off x="6172200" y="1234440"/>
            <a:ext cx="2697480" cy="594360"/>
          </a:xfrm>
          <a:prstGeom prst="roundRect">
            <a:avLst>
              <a:gd name="adj" fmla="val 15385"/>
            </a:avLst>
          </a:prstGeom>
          <a:solidFill>
            <a:srgbClr val="00897B"/>
          </a:solidFill>
          <a:ln w="12700">
            <a:solidFill>
              <a:srgbClr val="00897B"/>
            </a:solidFill>
            <a:prstDash val="solid"/>
          </a:ln>
        </p:spPr>
      </p:sp>
      <p:sp>
        <p:nvSpPr>
          <p:cNvPr id="24" name="Shape 22"/>
          <p:cNvSpPr/>
          <p:nvPr/>
        </p:nvSpPr>
        <p:spPr>
          <a:xfrm>
            <a:off x="6172200" y="1600200"/>
            <a:ext cx="2697480" cy="228600"/>
          </a:xfrm>
          <a:prstGeom prst="rect">
            <a:avLst/>
          </a:prstGeom>
          <a:solidFill>
            <a:srgbClr val="00897B"/>
          </a:solidFill>
          <a:ln w="12700">
            <a:solidFill>
              <a:srgbClr val="00897B"/>
            </a:solidFill>
            <a:prstDash val="solid"/>
          </a:ln>
        </p:spPr>
      </p:sp>
      <p:sp>
        <p:nvSpPr>
          <p:cNvPr id="25" name="Text 23"/>
          <p:cNvSpPr/>
          <p:nvPr/>
        </p:nvSpPr>
        <p:spPr>
          <a:xfrm>
            <a:off x="6309360" y="1298448"/>
            <a:ext cx="2468880" cy="45720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Hotels / Landmarks</a:t>
            </a:r>
            <a:endParaRPr lang="en-US" sz="1300" dirty="0"/>
          </a:p>
        </p:txBody>
      </p:sp>
      <p:sp>
        <p:nvSpPr>
          <p:cNvPr id="26" name="Text 24"/>
          <p:cNvSpPr/>
          <p:nvPr/>
        </p:nvSpPr>
        <p:spPr>
          <a:xfrm>
            <a:off x="6309360" y="1965960"/>
            <a:ext cx="2468880" cy="47548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Preloaded hotel &amp; landmark data</a:t>
            </a:r>
            <a:endParaRPr lang="en-US" sz="1050" dirty="0"/>
          </a:p>
        </p:txBody>
      </p:sp>
      <p:sp>
        <p:nvSpPr>
          <p:cNvPr id="27" name="Text 25"/>
          <p:cNvSpPr/>
          <p:nvPr/>
        </p:nvSpPr>
        <p:spPr>
          <a:xfrm>
            <a:off x="6309360" y="2496312"/>
            <a:ext cx="2468880" cy="47548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Tabbed detail view per destination</a:t>
            </a:r>
            <a:endParaRPr lang="en-US" sz="1050" dirty="0"/>
          </a:p>
        </p:txBody>
      </p:sp>
      <p:sp>
        <p:nvSpPr>
          <p:cNvPr id="28" name="Text 26"/>
          <p:cNvSpPr/>
          <p:nvPr/>
        </p:nvSpPr>
        <p:spPr>
          <a:xfrm>
            <a:off x="6309360" y="3026664"/>
            <a:ext cx="2468880" cy="47548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See destination details (landmarks &amp; info)</a:t>
            </a:r>
            <a:endParaRPr lang="en-US" sz="1050" dirty="0"/>
          </a:p>
        </p:txBody>
      </p:sp>
      <p:sp>
        <p:nvSpPr>
          <p:cNvPr id="29" name="Text 27"/>
          <p:cNvSpPr/>
          <p:nvPr/>
        </p:nvSpPr>
        <p:spPr>
          <a:xfrm>
            <a:off x="6309360" y="3557016"/>
            <a:ext cx="2468880" cy="47548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Generate custom day-by-day itinerary via AI</a:t>
            </a:r>
            <a:endParaRPr lang="en-US" sz="1050" dirty="0"/>
          </a:p>
        </p:txBody>
      </p:sp>
      <p:sp>
        <p:nvSpPr>
          <p:cNvPr id="30" name="Text 28"/>
          <p:cNvSpPr/>
          <p:nvPr/>
        </p:nvSpPr>
        <p:spPr>
          <a:xfrm>
            <a:off x="6309360" y="4087368"/>
            <a:ext cx="2468880" cy="47548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Select trip style &amp; budget preferences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B4E"/>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Planner Workspace</a:t>
            </a:r>
            <a:endParaRPr lang="en-US" sz="3000" dirty="0"/>
          </a:p>
        </p:txBody>
      </p:sp>
      <p:sp>
        <p:nvSpPr>
          <p:cNvPr id="3" name="Text 1"/>
          <p:cNvSpPr/>
          <p:nvPr/>
        </p:nvSpPr>
        <p:spPr>
          <a:xfrm>
            <a:off x="457200" y="804672"/>
            <a:ext cx="8229600" cy="347472"/>
          </a:xfrm>
          <a:prstGeom prst="rect">
            <a:avLst/>
          </a:prstGeom>
          <a:noFill/>
          <a:ln/>
        </p:spPr>
        <p:txBody>
          <a:bodyPr wrap="square" rtlCol="0" anchor="ctr"/>
          <a:lstStyle/>
          <a:p>
            <a:pPr indent="0" marL="0">
              <a:buNone/>
            </a:pPr>
            <a:r>
              <a:rPr lang="en-US" sz="1300" i="1" dirty="0">
                <a:solidFill>
                  <a:srgbClr val="FF8F00"/>
                </a:solidFill>
                <a:latin typeface="Calibri" pitchFamily="34" charset="0"/>
                <a:ea typeface="Calibri" pitchFamily="34" charset="-122"/>
                <a:cs typeface="Calibri" pitchFamily="34" charset="-120"/>
              </a:rPr>
              <a:t>AI-powered + Manual trip planning in one workspace (/planner)</a:t>
            </a:r>
            <a:endParaRPr lang="en-US" sz="1300" dirty="0"/>
          </a:p>
        </p:txBody>
      </p:sp>
      <p:pic>
        <p:nvPicPr>
          <p:cNvPr id="4" name="Image 0" descr="preencoded.png"/>
          <p:cNvPicPr>
            <a:picLocks noChangeAspect="1"/>
          </p:cNvPicPr>
          <p:nvPr/>
        </p:nvPicPr>
        <p:blipFill>
          <a:blip r:embed="rId1"/>
          <a:stretch>
            <a:fillRect/>
          </a:stretch>
        </p:blipFill>
        <p:spPr>
          <a:xfrm>
            <a:off x="8046720" y="182880"/>
            <a:ext cx="731520" cy="731520"/>
          </a:xfrm>
          <a:prstGeom prst="rect">
            <a:avLst/>
          </a:prstGeom>
        </p:spPr>
      </p:pic>
      <p:sp>
        <p:nvSpPr>
          <p:cNvPr id="5" name="Shape 2"/>
          <p:cNvSpPr/>
          <p:nvPr/>
        </p:nvSpPr>
        <p:spPr>
          <a:xfrm>
            <a:off x="411480" y="1234440"/>
            <a:ext cx="8321040" cy="1737360"/>
          </a:xfrm>
          <a:prstGeom prst="roundRect">
            <a:avLst>
              <a:gd name="adj" fmla="val 5263"/>
            </a:avLst>
          </a:prstGeom>
          <a:solidFill>
            <a:srgbClr val="1565C0"/>
          </a:solidFill>
          <a:ln/>
          <a:effectLst>
            <a:outerShdw sx="100000" sy="100000" kx="0" ky="0" algn="bl" rotWithShape="0" blurRad="101600" dist="38100" dir="2700000">
              <a:srgbClr val="000000">
                <a:alpha val="12000"/>
              </a:srgbClr>
            </a:outerShdw>
          </a:effectLst>
        </p:spPr>
      </p:sp>
      <p:sp>
        <p:nvSpPr>
          <p:cNvPr id="6" name="Text 3"/>
          <p:cNvSpPr/>
          <p:nvPr/>
        </p:nvSpPr>
        <p:spPr>
          <a:xfrm>
            <a:off x="594360" y="1325880"/>
            <a:ext cx="3657600" cy="365760"/>
          </a:xfrm>
          <a:prstGeom prst="rect">
            <a:avLst/>
          </a:prstGeom>
          <a:noFill/>
          <a:ln/>
        </p:spPr>
        <p:txBody>
          <a:bodyPr wrap="square" rtlCol="0" anchor="ctr"/>
          <a:lstStyle/>
          <a:p>
            <a:pPr indent="0" marL="0">
              <a:buNone/>
            </a:pPr>
            <a:r>
              <a:rPr lang="en-US" sz="1400" b="1" dirty="0">
                <a:solidFill>
                  <a:srgbClr val="FF8F00"/>
                </a:solidFill>
                <a:latin typeface="Cambria" pitchFamily="34" charset="0"/>
                <a:ea typeface="Cambria" pitchFamily="34" charset="-122"/>
                <a:cs typeface="Cambria" pitchFamily="34" charset="-120"/>
              </a:rPr>
              <a:t>AI Planner Section</a:t>
            </a:r>
            <a:endParaRPr lang="en-US" sz="1400" dirty="0"/>
          </a:p>
        </p:txBody>
      </p:sp>
      <p:sp>
        <p:nvSpPr>
          <p:cNvPr id="7" name="Text 4"/>
          <p:cNvSpPr/>
          <p:nvPr/>
        </p:nvSpPr>
        <p:spPr>
          <a:xfrm>
            <a:off x="594360" y="1764792"/>
            <a:ext cx="3931920" cy="347472"/>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Text prompt input: describe your ideal trip in plain language</a:t>
            </a:r>
            <a:endParaRPr lang="en-US" sz="1050" dirty="0"/>
          </a:p>
        </p:txBody>
      </p:sp>
      <p:sp>
        <p:nvSpPr>
          <p:cNvPr id="8" name="Text 5"/>
          <p:cNvSpPr/>
          <p:nvPr/>
        </p:nvSpPr>
        <p:spPr>
          <a:xfrm>
            <a:off x="594360" y="2148840"/>
            <a:ext cx="3931920" cy="347472"/>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Calls Google Gemini 2.5 Flash API with structured JSON prompt</a:t>
            </a:r>
            <a:endParaRPr lang="en-US" sz="1050" dirty="0"/>
          </a:p>
        </p:txBody>
      </p:sp>
      <p:sp>
        <p:nvSpPr>
          <p:cNvPr id="9" name="Text 6"/>
          <p:cNvSpPr/>
          <p:nvPr/>
        </p:nvSpPr>
        <p:spPr>
          <a:xfrm>
            <a:off x="594360" y="2532888"/>
            <a:ext cx="3931920" cy="347472"/>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Returns: destination, best months, duration, reason, hotels, landmarks</a:t>
            </a:r>
            <a:endParaRPr lang="en-US" sz="1050" dirty="0"/>
          </a:p>
        </p:txBody>
      </p:sp>
      <p:sp>
        <p:nvSpPr>
          <p:cNvPr id="10" name="Text 7"/>
          <p:cNvSpPr/>
          <p:nvPr/>
        </p:nvSpPr>
        <p:spPr>
          <a:xfrm>
            <a:off x="4709160" y="1764792"/>
            <a:ext cx="3931920" cy="347472"/>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One-click 'Add Plan' saves to Firestore aiPlans collection</a:t>
            </a:r>
            <a:endParaRPr lang="en-US" sz="1050" dirty="0"/>
          </a:p>
        </p:txBody>
      </p:sp>
      <p:sp>
        <p:nvSpPr>
          <p:cNvPr id="11" name="Text 8"/>
          <p:cNvSpPr/>
          <p:nvPr/>
        </p:nvSpPr>
        <p:spPr>
          <a:xfrm>
            <a:off x="4709160" y="2148840"/>
            <a:ext cx="3931920" cy="347472"/>
          </a:xfrm>
          <a:prstGeom prst="rect">
            <a:avLst/>
          </a:prstGeom>
          <a:noFill/>
          <a:ln/>
        </p:spPr>
        <p:txBody>
          <a:bodyPr wrap="square" rtlCol="0" anchor="ctr"/>
          <a:lstStyle/>
          <a:p>
            <a:pPr indent="0" marL="0">
              <a:buNone/>
            </a:pPr>
            <a:r>
              <a:rPr lang="en-US" sz="1050" b="1"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Clear button resets the recommendation panel</a:t>
            </a:r>
            <a:endParaRPr lang="en-US" sz="1050" dirty="0"/>
          </a:p>
        </p:txBody>
      </p:sp>
      <p:sp>
        <p:nvSpPr>
          <p:cNvPr id="12" name="Shape 9"/>
          <p:cNvSpPr/>
          <p:nvPr/>
        </p:nvSpPr>
        <p:spPr>
          <a:xfrm>
            <a:off x="411480" y="3154680"/>
            <a:ext cx="8321040" cy="1737360"/>
          </a:xfrm>
          <a:prstGeom prst="roundRect">
            <a:avLst>
              <a:gd name="adj" fmla="val 5263"/>
            </a:avLst>
          </a:prstGeom>
          <a:solidFill>
            <a:srgbClr val="1565C0"/>
          </a:solidFill>
          <a:ln/>
          <a:effectLst>
            <a:outerShdw sx="100000" sy="100000" kx="0" ky="0" algn="bl" rotWithShape="0" blurRad="101600" dist="38100" dir="2700000">
              <a:srgbClr val="000000">
                <a:alpha val="12000"/>
              </a:srgbClr>
            </a:outerShdw>
          </a:effectLst>
        </p:spPr>
      </p:sp>
      <p:sp>
        <p:nvSpPr>
          <p:cNvPr id="13" name="Text 10"/>
          <p:cNvSpPr/>
          <p:nvPr/>
        </p:nvSpPr>
        <p:spPr>
          <a:xfrm>
            <a:off x="594360" y="3246120"/>
            <a:ext cx="3657600" cy="365760"/>
          </a:xfrm>
          <a:prstGeom prst="rect">
            <a:avLst/>
          </a:prstGeom>
          <a:noFill/>
          <a:ln/>
        </p:spPr>
        <p:txBody>
          <a:bodyPr wrap="square" rtlCol="0" anchor="ctr"/>
          <a:lstStyle/>
          <a:p>
            <a:pPr indent="0" marL="0">
              <a:buNone/>
            </a:pPr>
            <a:r>
              <a:rPr lang="en-US" sz="1400" b="1" dirty="0">
                <a:solidFill>
                  <a:srgbClr val="1E88E5"/>
                </a:solidFill>
                <a:latin typeface="Cambria" pitchFamily="34" charset="0"/>
                <a:ea typeface="Cambria" pitchFamily="34" charset="-122"/>
                <a:cs typeface="Cambria" pitchFamily="34" charset="-120"/>
              </a:rPr>
              <a:t>Manual Planner Section</a:t>
            </a:r>
            <a:endParaRPr lang="en-US" sz="1400" dirty="0"/>
          </a:p>
        </p:txBody>
      </p:sp>
      <p:sp>
        <p:nvSpPr>
          <p:cNvPr id="14" name="Text 11"/>
          <p:cNvSpPr/>
          <p:nvPr/>
        </p:nvSpPr>
        <p:spPr>
          <a:xfrm>
            <a:off x="594360" y="3685032"/>
            <a:ext cx="3931920" cy="347472"/>
          </a:xfrm>
          <a:prstGeom prst="rect">
            <a:avLst/>
          </a:prstGeom>
          <a:noFill/>
          <a:ln/>
        </p:spPr>
        <p:txBody>
          <a:bodyPr wrap="square" rtlCol="0" anchor="ctr"/>
          <a:lstStyle/>
          <a:p>
            <a:pPr indent="0" marL="0">
              <a:buNone/>
            </a:pPr>
            <a:r>
              <a:rPr lang="en-US" sz="1050" b="1" dirty="0">
                <a:solidFill>
                  <a:srgbClr val="1E88E5"/>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Select destination, travel dates, budget category</a:t>
            </a:r>
            <a:endParaRPr lang="en-US" sz="1050" dirty="0"/>
          </a:p>
        </p:txBody>
      </p:sp>
      <p:sp>
        <p:nvSpPr>
          <p:cNvPr id="15" name="Text 12"/>
          <p:cNvSpPr/>
          <p:nvPr/>
        </p:nvSpPr>
        <p:spPr>
          <a:xfrm>
            <a:off x="594360" y="4069080"/>
            <a:ext cx="3931920" cy="347472"/>
          </a:xfrm>
          <a:prstGeom prst="rect">
            <a:avLst/>
          </a:prstGeom>
          <a:noFill/>
          <a:ln/>
        </p:spPr>
        <p:txBody>
          <a:bodyPr wrap="square" rtlCol="0" anchor="ctr"/>
          <a:lstStyle/>
          <a:p>
            <a:pPr indent="0" marL="0">
              <a:buNone/>
            </a:pPr>
            <a:r>
              <a:rPr lang="en-US" sz="1050" b="1" dirty="0">
                <a:solidFill>
                  <a:srgbClr val="1E88E5"/>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Choose trip type: Beach, City, Nature, Adventure</a:t>
            </a:r>
            <a:endParaRPr lang="en-US" sz="1050" dirty="0"/>
          </a:p>
        </p:txBody>
      </p:sp>
      <p:sp>
        <p:nvSpPr>
          <p:cNvPr id="16" name="Text 13"/>
          <p:cNvSpPr/>
          <p:nvPr/>
        </p:nvSpPr>
        <p:spPr>
          <a:xfrm>
            <a:off x="594360" y="4453128"/>
            <a:ext cx="3931920" cy="347472"/>
          </a:xfrm>
          <a:prstGeom prst="rect">
            <a:avLst/>
          </a:prstGeom>
          <a:noFill/>
          <a:ln/>
        </p:spPr>
        <p:txBody>
          <a:bodyPr wrap="square" rtlCol="0" anchor="ctr"/>
          <a:lstStyle/>
          <a:p>
            <a:pPr indent="0" marL="0">
              <a:buNone/>
            </a:pPr>
            <a:r>
              <a:rPr lang="en-US" sz="1050" b="1" dirty="0">
                <a:solidFill>
                  <a:srgbClr val="1E88E5"/>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Optionally select number of travelers</a:t>
            </a:r>
            <a:endParaRPr lang="en-US" sz="1050" dirty="0"/>
          </a:p>
        </p:txBody>
      </p:sp>
      <p:sp>
        <p:nvSpPr>
          <p:cNvPr id="17" name="Text 14"/>
          <p:cNvSpPr/>
          <p:nvPr/>
        </p:nvSpPr>
        <p:spPr>
          <a:xfrm>
            <a:off x="4709160" y="3685032"/>
            <a:ext cx="3931920" cy="347472"/>
          </a:xfrm>
          <a:prstGeom prst="rect">
            <a:avLst/>
          </a:prstGeom>
          <a:noFill/>
          <a:ln/>
        </p:spPr>
        <p:txBody>
          <a:bodyPr wrap="square" rtlCol="0" anchor="ctr"/>
          <a:lstStyle/>
          <a:p>
            <a:pPr indent="0" marL="0">
              <a:buNone/>
            </a:pPr>
            <a:r>
              <a:rPr lang="en-US" sz="1050" b="1" dirty="0">
                <a:solidFill>
                  <a:srgbClr val="1E88E5"/>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Fetches hotels and landmarks from plannerService mock data</a:t>
            </a:r>
            <a:endParaRPr lang="en-US" sz="1050" dirty="0"/>
          </a:p>
        </p:txBody>
      </p:sp>
      <p:sp>
        <p:nvSpPr>
          <p:cNvPr id="18" name="Text 15"/>
          <p:cNvSpPr/>
          <p:nvPr/>
        </p:nvSpPr>
        <p:spPr>
          <a:xfrm>
            <a:off x="4709160" y="4069080"/>
            <a:ext cx="3931920" cy="347472"/>
          </a:xfrm>
          <a:prstGeom prst="rect">
            <a:avLst/>
          </a:prstGeom>
          <a:noFill/>
          <a:ln/>
        </p:spPr>
        <p:txBody>
          <a:bodyPr wrap="square" rtlCol="0" anchor="ctr"/>
          <a:lstStyle/>
          <a:p>
            <a:pPr indent="0" marL="0">
              <a:buNone/>
            </a:pPr>
            <a:r>
              <a:rPr lang="en-US" sz="1050" b="1" dirty="0">
                <a:solidFill>
                  <a:srgbClr val="1E88E5"/>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Manual plans also saved alongside AI plans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D2B4E"/>
                </a:solidFill>
                <a:latin typeface="Cambria" pitchFamily="34" charset="0"/>
                <a:ea typeface="Cambria" pitchFamily="34" charset="-122"/>
                <a:cs typeface="Cambria" pitchFamily="34" charset="-120"/>
              </a:rPr>
              <a:t>Dashboard &amp; Profile Pages</a:t>
            </a:r>
            <a:endParaRPr lang="en-US" sz="3000" dirty="0"/>
          </a:p>
        </p:txBody>
      </p:sp>
      <p:sp>
        <p:nvSpPr>
          <p:cNvPr id="3" name="Shape 1"/>
          <p:cNvSpPr/>
          <p:nvPr/>
        </p:nvSpPr>
        <p:spPr>
          <a:xfrm>
            <a:off x="411480" y="914400"/>
            <a:ext cx="5029200" cy="3931920"/>
          </a:xfrm>
          <a:prstGeom prst="roundRect">
            <a:avLst>
              <a:gd name="adj" fmla="val 2791"/>
            </a:avLst>
          </a:prstGeom>
          <a:solidFill>
            <a:srgbClr val="FFFFFF"/>
          </a:solidFill>
          <a:ln/>
          <a:effectLst>
            <a:outerShdw sx="100000" sy="100000" kx="0" ky="0" algn="bl" rotWithShape="0" blurRad="101600" dist="38100" dir="2700000">
              <a:srgbClr val="000000">
                <a:alpha val="12000"/>
              </a:srgbClr>
            </a:outerShdw>
          </a:effectLst>
        </p:spPr>
      </p:sp>
      <p:sp>
        <p:nvSpPr>
          <p:cNvPr id="4" name="Shape 2"/>
          <p:cNvSpPr/>
          <p:nvPr/>
        </p:nvSpPr>
        <p:spPr>
          <a:xfrm>
            <a:off x="411480" y="914400"/>
            <a:ext cx="5029200" cy="658368"/>
          </a:xfrm>
          <a:prstGeom prst="roundRect">
            <a:avLst>
              <a:gd name="adj" fmla="val 16667"/>
            </a:avLst>
          </a:prstGeom>
          <a:solidFill>
            <a:srgbClr val="0D2B4E"/>
          </a:solidFill>
          <a:ln w="12700">
            <a:solidFill>
              <a:srgbClr val="0D2B4E"/>
            </a:solidFill>
            <a:prstDash val="solid"/>
          </a:ln>
        </p:spPr>
      </p:sp>
      <p:sp>
        <p:nvSpPr>
          <p:cNvPr id="5" name="Shape 3"/>
          <p:cNvSpPr/>
          <p:nvPr/>
        </p:nvSpPr>
        <p:spPr>
          <a:xfrm>
            <a:off x="411480" y="1389888"/>
            <a:ext cx="5029200" cy="201168"/>
          </a:xfrm>
          <a:prstGeom prst="rect">
            <a:avLst/>
          </a:prstGeom>
          <a:solidFill>
            <a:srgbClr val="0D2B4E"/>
          </a:solidFill>
          <a:ln w="12700">
            <a:solidFill>
              <a:srgbClr val="0D2B4E"/>
            </a:solidFill>
            <a:prstDash val="solid"/>
          </a:ln>
        </p:spPr>
      </p:sp>
      <p:sp>
        <p:nvSpPr>
          <p:cNvPr id="6" name="Text 4"/>
          <p:cNvSpPr/>
          <p:nvPr/>
        </p:nvSpPr>
        <p:spPr>
          <a:xfrm>
            <a:off x="594360" y="1005840"/>
            <a:ext cx="466344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Dashboard  /dashboard</a:t>
            </a:r>
            <a:endParaRPr lang="en-US" sz="1500" dirty="0"/>
          </a:p>
        </p:txBody>
      </p:sp>
      <p:sp>
        <p:nvSpPr>
          <p:cNvPr id="7" name="Text 5"/>
          <p:cNvSpPr/>
          <p:nvPr/>
        </p:nvSpPr>
        <p:spPr>
          <a:xfrm>
            <a:off x="548640" y="1719072"/>
            <a:ext cx="4754880" cy="402336"/>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Sidebar navigation: Overview / Travel / Discover sections</a:t>
            </a:r>
            <a:endParaRPr lang="en-US" sz="1050" dirty="0"/>
          </a:p>
        </p:txBody>
      </p:sp>
      <p:sp>
        <p:nvSpPr>
          <p:cNvPr id="8" name="Text 6"/>
          <p:cNvSpPr/>
          <p:nvPr/>
        </p:nvSpPr>
        <p:spPr>
          <a:xfrm>
            <a:off x="548640" y="2176272"/>
            <a:ext cx="4754880" cy="402336"/>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3 stat cards: Saved Flights · AI Plans Generated · Destinations Explored</a:t>
            </a:r>
            <a:endParaRPr lang="en-US" sz="1050" dirty="0"/>
          </a:p>
        </p:txBody>
      </p:sp>
      <p:sp>
        <p:nvSpPr>
          <p:cNvPr id="9" name="Text 7"/>
          <p:cNvSpPr/>
          <p:nvPr/>
        </p:nvSpPr>
        <p:spPr>
          <a:xfrm>
            <a:off x="548640" y="2633472"/>
            <a:ext cx="4754880" cy="402336"/>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Saved Flights panel with list of saved flights &amp; remove button</a:t>
            </a:r>
            <a:endParaRPr lang="en-US" sz="1050" dirty="0"/>
          </a:p>
        </p:txBody>
      </p:sp>
      <p:sp>
        <p:nvSpPr>
          <p:cNvPr id="10" name="Text 8"/>
          <p:cNvSpPr/>
          <p:nvPr/>
        </p:nvSpPr>
        <p:spPr>
          <a:xfrm>
            <a:off x="548640" y="3090672"/>
            <a:ext cx="4754880" cy="402336"/>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Quick Actions: Search flights / Plan a trip / Destinations / AI Planner</a:t>
            </a:r>
            <a:endParaRPr lang="en-US" sz="1050" dirty="0"/>
          </a:p>
        </p:txBody>
      </p:sp>
      <p:sp>
        <p:nvSpPr>
          <p:cNvPr id="11" name="Text 9"/>
          <p:cNvSpPr/>
          <p:nvPr/>
        </p:nvSpPr>
        <p:spPr>
          <a:xfrm>
            <a:off x="548640" y="3547872"/>
            <a:ext cx="4754880" cy="402336"/>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Quick Actions: Search flights / Plan a trip / Destinations / Edit profile</a:t>
            </a:r>
            <a:endParaRPr lang="en-US" sz="1050" dirty="0"/>
          </a:p>
        </p:txBody>
      </p:sp>
      <p:sp>
        <p:nvSpPr>
          <p:cNvPr id="12" name="Shape 10"/>
          <p:cNvSpPr/>
          <p:nvPr/>
        </p:nvSpPr>
        <p:spPr>
          <a:xfrm>
            <a:off x="5669280" y="914400"/>
            <a:ext cx="3200400" cy="3931920"/>
          </a:xfrm>
          <a:prstGeom prst="roundRect">
            <a:avLst>
              <a:gd name="adj" fmla="val 3429"/>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5669280" y="914400"/>
            <a:ext cx="3200400" cy="658368"/>
          </a:xfrm>
          <a:prstGeom prst="roundRect">
            <a:avLst>
              <a:gd name="adj" fmla="val 16667"/>
            </a:avLst>
          </a:prstGeom>
          <a:solidFill>
            <a:srgbClr val="00897B"/>
          </a:solidFill>
          <a:ln w="12700">
            <a:solidFill>
              <a:srgbClr val="00897B"/>
            </a:solidFill>
            <a:prstDash val="solid"/>
          </a:ln>
        </p:spPr>
      </p:sp>
      <p:sp>
        <p:nvSpPr>
          <p:cNvPr id="14" name="Shape 12"/>
          <p:cNvSpPr/>
          <p:nvPr/>
        </p:nvSpPr>
        <p:spPr>
          <a:xfrm>
            <a:off x="5669280" y="1389888"/>
            <a:ext cx="3200400" cy="201168"/>
          </a:xfrm>
          <a:prstGeom prst="rect">
            <a:avLst/>
          </a:prstGeom>
          <a:solidFill>
            <a:srgbClr val="00897B"/>
          </a:solidFill>
          <a:ln w="12700">
            <a:solidFill>
              <a:srgbClr val="00897B"/>
            </a:solidFill>
            <a:prstDash val="solid"/>
          </a:ln>
        </p:spPr>
      </p:sp>
      <p:sp>
        <p:nvSpPr>
          <p:cNvPr id="15" name="Text 13"/>
          <p:cNvSpPr/>
          <p:nvPr/>
        </p:nvSpPr>
        <p:spPr>
          <a:xfrm>
            <a:off x="5852160" y="1005840"/>
            <a:ext cx="283464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Profile  /profile</a:t>
            </a:r>
            <a:endParaRPr lang="en-US" sz="1500" dirty="0"/>
          </a:p>
        </p:txBody>
      </p:sp>
      <p:sp>
        <p:nvSpPr>
          <p:cNvPr id="16" name="Text 14"/>
          <p:cNvSpPr/>
          <p:nvPr/>
        </p:nvSpPr>
        <p:spPr>
          <a:xfrm>
            <a:off x="5806440" y="1719072"/>
            <a:ext cx="2971800" cy="402336"/>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Displays name, email, creation date</a:t>
            </a:r>
            <a:endParaRPr lang="en-US" sz="1050" dirty="0"/>
          </a:p>
        </p:txBody>
      </p:sp>
      <p:sp>
        <p:nvSpPr>
          <p:cNvPr id="17" name="Text 15"/>
          <p:cNvSpPr/>
          <p:nvPr/>
        </p:nvSpPr>
        <p:spPr>
          <a:xfrm>
            <a:off x="5806440" y="2176272"/>
            <a:ext cx="2971800" cy="402336"/>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Shows number of booked trips from TripsContext</a:t>
            </a:r>
            <a:endParaRPr lang="en-US" sz="1050" dirty="0"/>
          </a:p>
        </p:txBody>
      </p:sp>
      <p:sp>
        <p:nvSpPr>
          <p:cNvPr id="18" name="Text 16"/>
          <p:cNvSpPr/>
          <p:nvPr/>
        </p:nvSpPr>
        <p:spPr>
          <a:xfrm>
            <a:off x="5806440" y="2633472"/>
            <a:ext cx="2971800" cy="402336"/>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Calculates total amount spent across trips</a:t>
            </a:r>
            <a:endParaRPr lang="en-US" sz="1050" dirty="0"/>
          </a:p>
        </p:txBody>
      </p:sp>
      <p:sp>
        <p:nvSpPr>
          <p:cNvPr id="19" name="Text 17"/>
          <p:cNvSpPr/>
          <p:nvPr/>
        </p:nvSpPr>
        <p:spPr>
          <a:xfrm>
            <a:off x="5806440" y="3090672"/>
            <a:ext cx="2971800" cy="402336"/>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Password reset email via Firebase Authentication</a:t>
            </a:r>
            <a:endParaRPr lang="en-US" sz="1050" dirty="0"/>
          </a:p>
        </p:txBody>
      </p:sp>
      <p:sp>
        <p:nvSpPr>
          <p:cNvPr id="20" name="Text 18"/>
          <p:cNvSpPr/>
          <p:nvPr/>
        </p:nvSpPr>
        <p:spPr>
          <a:xfrm>
            <a:off x="5806440" y="3547872"/>
            <a:ext cx="2971800" cy="402336"/>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Account security status display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4E"/>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Trip Management Pages</a:t>
            </a:r>
            <a:endParaRPr lang="en-US" sz="3000" dirty="0"/>
          </a:p>
        </p:txBody>
      </p:sp>
      <p:sp>
        <p:nvSpPr>
          <p:cNvPr id="3" name="Shape 1"/>
          <p:cNvSpPr/>
          <p:nvPr/>
        </p:nvSpPr>
        <p:spPr>
          <a:xfrm>
            <a:off x="411480" y="1097280"/>
            <a:ext cx="4023360" cy="1691640"/>
          </a:xfrm>
          <a:prstGeom prst="roundRect">
            <a:avLst>
              <a:gd name="adj" fmla="val 5405"/>
            </a:avLst>
          </a:prstGeom>
          <a:solidFill>
            <a:srgbClr val="1565C0"/>
          </a:solidFill>
          <a:ln/>
          <a:effectLst>
            <a:outerShdw sx="100000" sy="100000" kx="0" ky="0" algn="bl" rotWithShape="0" blurRad="101600" dist="38100" dir="2700000">
              <a:srgbClr val="000000">
                <a:alpha val="12000"/>
              </a:srgbClr>
            </a:outerShdw>
          </a:effectLst>
        </p:spPr>
      </p:sp>
      <p:sp>
        <p:nvSpPr>
          <p:cNvPr id="4" name="Text 2"/>
          <p:cNvSpPr/>
          <p:nvPr/>
        </p:nvSpPr>
        <p:spPr>
          <a:xfrm>
            <a:off x="594360" y="1207008"/>
            <a:ext cx="3657600" cy="320040"/>
          </a:xfrm>
          <a:prstGeom prst="rect">
            <a:avLst/>
          </a:prstGeom>
          <a:noFill/>
          <a:ln/>
        </p:spPr>
        <p:txBody>
          <a:bodyPr wrap="square" rtlCol="0" anchor="ctr"/>
          <a:lstStyle/>
          <a:p>
            <a:pPr indent="0" marL="0">
              <a:buNone/>
            </a:pPr>
            <a:r>
              <a:rPr lang="en-US" sz="1250" b="1" dirty="0">
                <a:solidFill>
                  <a:srgbClr val="1E88E5"/>
                </a:solidFill>
                <a:latin typeface="Calibri" pitchFamily="34" charset="0"/>
                <a:ea typeface="Calibri" pitchFamily="34" charset="-122"/>
                <a:cs typeface="Calibri" pitchFamily="34" charset="-120"/>
              </a:rPr>
              <a:t>Saved Flights  /savedflights</a:t>
            </a:r>
            <a:endParaRPr lang="en-US" sz="1250" dirty="0"/>
          </a:p>
        </p:txBody>
      </p:sp>
      <p:sp>
        <p:nvSpPr>
          <p:cNvPr id="5" name="Text 3"/>
          <p:cNvSpPr/>
          <p:nvPr/>
        </p:nvSpPr>
        <p:spPr>
          <a:xfrm>
            <a:off x="594360" y="1572768"/>
            <a:ext cx="3749040" cy="274320"/>
          </a:xfrm>
          <a:prstGeom prst="rect">
            <a:avLst/>
          </a:prstGeom>
          <a:noFill/>
          <a:ln/>
        </p:spPr>
        <p:txBody>
          <a:bodyPr wrap="square" rtlCol="0" anchor="ctr"/>
          <a:lstStyle/>
          <a:p>
            <a:pPr indent="0" marL="0">
              <a:buNone/>
            </a:pPr>
            <a:r>
              <a:rPr lang="en-US" sz="950" b="1"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View all one-way flights saved from the Flights page</a:t>
            </a:r>
            <a:endParaRPr lang="en-US" sz="950" dirty="0"/>
          </a:p>
        </p:txBody>
      </p:sp>
      <p:sp>
        <p:nvSpPr>
          <p:cNvPr id="6" name="Text 4"/>
          <p:cNvSpPr/>
          <p:nvPr/>
        </p:nvSpPr>
        <p:spPr>
          <a:xfrm>
            <a:off x="594360" y="1883664"/>
            <a:ext cx="3749040" cy="274320"/>
          </a:xfrm>
          <a:prstGeom prst="rect">
            <a:avLst/>
          </a:prstGeom>
          <a:noFill/>
          <a:ln/>
        </p:spPr>
        <p:txBody>
          <a:bodyPr wrap="square" rtlCol="0" anchor="ctr"/>
          <a:lstStyle/>
          <a:p>
            <a:pPr indent="0" marL="0">
              <a:buNone/>
            </a:pPr>
            <a:r>
              <a:rPr lang="en-US" sz="950" b="1"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Full flight card details: airline, stops, duration, price</a:t>
            </a:r>
            <a:endParaRPr lang="en-US" sz="950" dirty="0"/>
          </a:p>
        </p:txBody>
      </p:sp>
      <p:sp>
        <p:nvSpPr>
          <p:cNvPr id="7" name="Text 5"/>
          <p:cNvSpPr/>
          <p:nvPr/>
        </p:nvSpPr>
        <p:spPr>
          <a:xfrm>
            <a:off x="594360" y="2194560"/>
            <a:ext cx="3749040" cy="274320"/>
          </a:xfrm>
          <a:prstGeom prst="rect">
            <a:avLst/>
          </a:prstGeom>
          <a:noFill/>
          <a:ln/>
        </p:spPr>
        <p:txBody>
          <a:bodyPr wrap="square" rtlCol="0" anchor="ctr"/>
          <a:lstStyle/>
          <a:p>
            <a:pPr indent="0" marL="0">
              <a:buNone/>
            </a:pPr>
            <a:r>
              <a:rPr lang="en-US" sz="950" b="1"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Shows airline, route, date, price per booking</a:t>
            </a:r>
            <a:endParaRPr lang="en-US" sz="950" dirty="0"/>
          </a:p>
        </p:txBody>
      </p:sp>
      <p:sp>
        <p:nvSpPr>
          <p:cNvPr id="8" name="Text 6"/>
          <p:cNvSpPr/>
          <p:nvPr/>
        </p:nvSpPr>
        <p:spPr>
          <a:xfrm>
            <a:off x="594360" y="2505456"/>
            <a:ext cx="3749040" cy="274320"/>
          </a:xfrm>
          <a:prstGeom prst="rect">
            <a:avLst/>
          </a:prstGeom>
          <a:noFill/>
          <a:ln/>
        </p:spPr>
        <p:txBody>
          <a:bodyPr wrap="square" rtlCol="0" anchor="ctr"/>
          <a:lstStyle/>
          <a:p>
            <a:pPr indent="0" marL="0">
              <a:buNone/>
            </a:pPr>
            <a:r>
              <a:rPr lang="en-US" sz="950" b="1"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Remove saved flights individually from your list</a:t>
            </a:r>
            <a:endParaRPr lang="en-US" sz="950" dirty="0"/>
          </a:p>
        </p:txBody>
      </p:sp>
      <p:sp>
        <p:nvSpPr>
          <p:cNvPr id="9" name="Shape 7"/>
          <p:cNvSpPr/>
          <p:nvPr/>
        </p:nvSpPr>
        <p:spPr>
          <a:xfrm>
            <a:off x="4663440" y="1097280"/>
            <a:ext cx="4023360" cy="1691640"/>
          </a:xfrm>
          <a:prstGeom prst="roundRect">
            <a:avLst>
              <a:gd name="adj" fmla="val 5405"/>
            </a:avLst>
          </a:prstGeom>
          <a:solidFill>
            <a:srgbClr val="1565C0"/>
          </a:solidFill>
          <a:ln/>
          <a:effectLst>
            <a:outerShdw sx="100000" sy="100000" kx="0" ky="0" algn="bl" rotWithShape="0" blurRad="101600" dist="38100" dir="2700000">
              <a:srgbClr val="000000">
                <a:alpha val="12000"/>
              </a:srgbClr>
            </a:outerShdw>
          </a:effectLst>
        </p:spPr>
      </p:sp>
      <p:sp>
        <p:nvSpPr>
          <p:cNvPr id="10" name="Text 8"/>
          <p:cNvSpPr/>
          <p:nvPr/>
        </p:nvSpPr>
        <p:spPr>
          <a:xfrm>
            <a:off x="4846320" y="1207008"/>
            <a:ext cx="3657600" cy="320040"/>
          </a:xfrm>
          <a:prstGeom prst="rect">
            <a:avLst/>
          </a:prstGeom>
          <a:noFill/>
          <a:ln/>
        </p:spPr>
        <p:txBody>
          <a:bodyPr wrap="square" rtlCol="0" anchor="ctr"/>
          <a:lstStyle/>
          <a:p>
            <a:pPr indent="0" marL="0">
              <a:buNone/>
            </a:pPr>
            <a:r>
              <a:rPr lang="en-US" sz="1250" b="1" dirty="0">
                <a:solidFill>
                  <a:srgbClr val="FF8F00"/>
                </a:solidFill>
                <a:latin typeface="Calibri" pitchFamily="34" charset="0"/>
                <a:ea typeface="Calibri" pitchFamily="34" charset="-122"/>
                <a:cs typeface="Calibri" pitchFamily="34" charset="-120"/>
              </a:rPr>
              <a:t>Saved Flights  /savedflights</a:t>
            </a:r>
            <a:endParaRPr lang="en-US" sz="1250" dirty="0"/>
          </a:p>
        </p:txBody>
      </p:sp>
      <p:sp>
        <p:nvSpPr>
          <p:cNvPr id="11" name="Text 9"/>
          <p:cNvSpPr/>
          <p:nvPr/>
        </p:nvSpPr>
        <p:spPr>
          <a:xfrm>
            <a:off x="4846320" y="1572768"/>
            <a:ext cx="3749040" cy="274320"/>
          </a:xfrm>
          <a:prstGeom prst="rect">
            <a:avLst/>
          </a:prstGeom>
          <a:noFill/>
          <a:ln/>
        </p:spPr>
        <p:txBody>
          <a:bodyPr wrap="square" rtlCol="0" anchor="ctr"/>
          <a:lstStyle/>
          <a:p>
            <a:pPr indent="0" marL="0">
              <a:buNone/>
            </a:pPr>
            <a:r>
              <a:rPr lang="en-US" sz="950" b="1"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List of flights saved but not booked yet</a:t>
            </a:r>
            <a:endParaRPr lang="en-US" sz="950" dirty="0"/>
          </a:p>
        </p:txBody>
      </p:sp>
      <p:sp>
        <p:nvSpPr>
          <p:cNvPr id="12" name="Text 10"/>
          <p:cNvSpPr/>
          <p:nvPr/>
        </p:nvSpPr>
        <p:spPr>
          <a:xfrm>
            <a:off x="4846320" y="1883664"/>
            <a:ext cx="3749040" cy="274320"/>
          </a:xfrm>
          <a:prstGeom prst="rect">
            <a:avLst/>
          </a:prstGeom>
          <a:noFill/>
          <a:ln/>
        </p:spPr>
        <p:txBody>
          <a:bodyPr wrap="square" rtlCol="0" anchor="ctr"/>
          <a:lstStyle/>
          <a:p>
            <a:pPr indent="0" marL="0">
              <a:buNone/>
            </a:pPr>
            <a:r>
              <a:rPr lang="en-US" sz="950" b="1"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Browse your saved flight cards with full details</a:t>
            </a:r>
            <a:endParaRPr lang="en-US" sz="950" dirty="0"/>
          </a:p>
        </p:txBody>
      </p:sp>
      <p:sp>
        <p:nvSpPr>
          <p:cNvPr id="13" name="Text 11"/>
          <p:cNvSpPr/>
          <p:nvPr/>
        </p:nvSpPr>
        <p:spPr>
          <a:xfrm>
            <a:off x="4846320" y="2194560"/>
            <a:ext cx="3749040" cy="274320"/>
          </a:xfrm>
          <a:prstGeom prst="rect">
            <a:avLst/>
          </a:prstGeom>
          <a:noFill/>
          <a:ln/>
        </p:spPr>
        <p:txBody>
          <a:bodyPr wrap="square" rtlCol="0" anchor="ctr"/>
          <a:lstStyle/>
          <a:p>
            <a:pPr indent="0" marL="0">
              <a:buNone/>
            </a:pPr>
            <a:r>
              <a:rPr lang="en-US" sz="950" b="1"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Full flight card details: airline, stops, price</a:t>
            </a:r>
            <a:endParaRPr lang="en-US" sz="950" dirty="0"/>
          </a:p>
        </p:txBody>
      </p:sp>
      <p:sp>
        <p:nvSpPr>
          <p:cNvPr id="14" name="Text 12"/>
          <p:cNvSpPr/>
          <p:nvPr/>
        </p:nvSpPr>
        <p:spPr>
          <a:xfrm>
            <a:off x="4846320" y="2505456"/>
            <a:ext cx="3749040" cy="274320"/>
          </a:xfrm>
          <a:prstGeom prst="rect">
            <a:avLst/>
          </a:prstGeom>
          <a:noFill/>
          <a:ln/>
        </p:spPr>
        <p:txBody>
          <a:bodyPr wrap="square" rtlCol="0" anchor="ctr"/>
          <a:lstStyle/>
          <a:p>
            <a:pPr indent="0" marL="0">
              <a:buNone/>
            </a:pPr>
            <a:r>
              <a:rPr lang="en-US" sz="950" b="1"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Remove saved flights individually</a:t>
            </a:r>
            <a:endParaRPr lang="en-US" sz="950" dirty="0"/>
          </a:p>
        </p:txBody>
      </p:sp>
      <p:sp>
        <p:nvSpPr>
          <p:cNvPr id="15" name="Shape 13"/>
          <p:cNvSpPr/>
          <p:nvPr/>
        </p:nvSpPr>
        <p:spPr>
          <a:xfrm>
            <a:off x="411480" y="2926080"/>
            <a:ext cx="4023360" cy="1691640"/>
          </a:xfrm>
          <a:prstGeom prst="roundRect">
            <a:avLst>
              <a:gd name="adj" fmla="val 5405"/>
            </a:avLst>
          </a:prstGeom>
          <a:solidFill>
            <a:srgbClr val="1565C0"/>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3035808"/>
            <a:ext cx="3657600" cy="320040"/>
          </a:xfrm>
          <a:prstGeom prst="rect">
            <a:avLst/>
          </a:prstGeom>
          <a:noFill/>
          <a:ln/>
        </p:spPr>
        <p:txBody>
          <a:bodyPr wrap="square" rtlCol="0" anchor="ctr"/>
          <a:lstStyle/>
          <a:p>
            <a:pPr indent="0" marL="0">
              <a:buNone/>
            </a:pPr>
            <a:r>
              <a:rPr lang="en-US" sz="1250" b="1" dirty="0">
                <a:solidFill>
                  <a:srgbClr val="00897B"/>
                </a:solidFill>
                <a:latin typeface="Calibri" pitchFamily="34" charset="0"/>
                <a:ea typeface="Calibri" pitchFamily="34" charset="-122"/>
                <a:cs typeface="Calibri" pitchFamily="34" charset="-120"/>
              </a:rPr>
              <a:t>AI Plans  /planner</a:t>
            </a:r>
            <a:endParaRPr lang="en-US" sz="1250" dirty="0"/>
          </a:p>
        </p:txBody>
      </p:sp>
      <p:sp>
        <p:nvSpPr>
          <p:cNvPr id="17" name="Text 15"/>
          <p:cNvSpPr/>
          <p:nvPr/>
        </p:nvSpPr>
        <p:spPr>
          <a:xfrm>
            <a:off x="594360" y="3401568"/>
            <a:ext cx="3749040" cy="274320"/>
          </a:xfrm>
          <a:prstGeom prst="rect">
            <a:avLst/>
          </a:prstGeom>
          <a:noFill/>
          <a:ln/>
        </p:spPr>
        <p:txBody>
          <a:bodyPr wrap="square"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AI-generated trip plans from Gemini 2.5 Flash</a:t>
            </a:r>
            <a:endParaRPr lang="en-US" sz="950" dirty="0"/>
          </a:p>
        </p:txBody>
      </p:sp>
      <p:sp>
        <p:nvSpPr>
          <p:cNvPr id="18" name="Text 16"/>
          <p:cNvSpPr/>
          <p:nvPr/>
        </p:nvSpPr>
        <p:spPr>
          <a:xfrm>
            <a:off x="594360" y="3712464"/>
            <a:ext cx="3749040" cy="274320"/>
          </a:xfrm>
          <a:prstGeom prst="rect">
            <a:avLst/>
          </a:prstGeom>
          <a:noFill/>
          <a:ln/>
        </p:spPr>
        <p:txBody>
          <a:bodyPr wrap="square"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View destination, best months, hotels &amp; landmarks suggested</a:t>
            </a:r>
            <a:endParaRPr lang="en-US" sz="950" dirty="0"/>
          </a:p>
        </p:txBody>
      </p:sp>
      <p:sp>
        <p:nvSpPr>
          <p:cNvPr id="19" name="Text 17"/>
          <p:cNvSpPr/>
          <p:nvPr/>
        </p:nvSpPr>
        <p:spPr>
          <a:xfrm>
            <a:off x="594360" y="4023360"/>
            <a:ext cx="3749040" cy="274320"/>
          </a:xfrm>
          <a:prstGeom prst="rect">
            <a:avLst/>
          </a:prstGeom>
          <a:noFill/>
          <a:ln/>
        </p:spPr>
        <p:txBody>
          <a:bodyPr wrap="square"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Clear or save AI plans from the planner workspace</a:t>
            </a:r>
            <a:endParaRPr lang="en-US" sz="950" dirty="0"/>
          </a:p>
        </p:txBody>
      </p:sp>
      <p:sp>
        <p:nvSpPr>
          <p:cNvPr id="20" name="Text 18"/>
          <p:cNvSpPr/>
          <p:nvPr/>
        </p:nvSpPr>
        <p:spPr>
          <a:xfrm>
            <a:off x="594360" y="4334256"/>
            <a:ext cx="3749040" cy="274320"/>
          </a:xfrm>
          <a:prstGeom prst="rect">
            <a:avLst/>
          </a:prstGeom>
          <a:noFill/>
          <a:ln/>
        </p:spPr>
        <p:txBody>
          <a:bodyPr wrap="square"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Describe your ideal trip and receive a structured AI recommendation</a:t>
            </a:r>
            <a:endParaRPr lang="en-US" sz="950" dirty="0"/>
          </a:p>
        </p:txBody>
      </p:sp>
      <p:sp>
        <p:nvSpPr>
          <p:cNvPr id="21" name="Shape 19"/>
          <p:cNvSpPr/>
          <p:nvPr/>
        </p:nvSpPr>
        <p:spPr>
          <a:xfrm>
            <a:off x="4663440" y="2926080"/>
            <a:ext cx="4023360" cy="1691640"/>
          </a:xfrm>
          <a:prstGeom prst="roundRect">
            <a:avLst>
              <a:gd name="adj" fmla="val 5405"/>
            </a:avLst>
          </a:prstGeom>
          <a:solidFill>
            <a:srgbClr val="1565C0"/>
          </a:solidFill>
          <a:ln/>
          <a:effectLst>
            <a:outerShdw sx="100000" sy="100000" kx="0" ky="0" algn="bl" rotWithShape="0" blurRad="101600" dist="38100" dir="2700000">
              <a:srgbClr val="000000">
                <a:alpha val="12000"/>
              </a:srgbClr>
            </a:outerShdw>
          </a:effectLst>
        </p:spPr>
      </p:sp>
      <p:sp>
        <p:nvSpPr>
          <p:cNvPr id="22" name="Text 20"/>
          <p:cNvSpPr/>
          <p:nvPr/>
        </p:nvSpPr>
        <p:spPr>
          <a:xfrm>
            <a:off x="4846320" y="3035808"/>
            <a:ext cx="3657600" cy="320040"/>
          </a:xfrm>
          <a:prstGeom prst="rect">
            <a:avLst/>
          </a:prstGeom>
          <a:noFill/>
          <a:ln/>
        </p:spPr>
        <p:txBody>
          <a:bodyPr wrap="square" rtlCol="0" anchor="ctr"/>
          <a:lstStyle/>
          <a:p>
            <a:pPr indent="0" marL="0">
              <a:buNone/>
            </a:pPr>
            <a:r>
              <a:rPr lang="en-US" sz="1250" b="1" dirty="0">
                <a:solidFill>
                  <a:srgbClr val="AB47BC"/>
                </a:solidFill>
                <a:latin typeface="Calibri" pitchFamily="34" charset="0"/>
                <a:ea typeface="Calibri" pitchFamily="34" charset="-122"/>
                <a:cs typeface="Calibri" pitchFamily="34" charset="-120"/>
              </a:rPr>
              <a:t>Trips Workspace  /tripsWorkspace</a:t>
            </a:r>
            <a:endParaRPr lang="en-US" sz="1250" dirty="0"/>
          </a:p>
        </p:txBody>
      </p:sp>
      <p:sp>
        <p:nvSpPr>
          <p:cNvPr id="23" name="Text 21"/>
          <p:cNvSpPr/>
          <p:nvPr/>
        </p:nvSpPr>
        <p:spPr>
          <a:xfrm>
            <a:off x="4846320" y="3401568"/>
            <a:ext cx="3749040" cy="274320"/>
          </a:xfrm>
          <a:prstGeom prst="rect">
            <a:avLst/>
          </a:prstGeom>
          <a:noFill/>
          <a:ln/>
        </p:spPr>
        <p:txBody>
          <a:bodyPr wrap="square" rtlCol="0" anchor="ctr"/>
          <a:lstStyle/>
          <a:p>
            <a:pPr indent="0" marL="0">
              <a:buNone/>
            </a:pPr>
            <a:r>
              <a:rPr lang="en-US" sz="950" b="1" dirty="0">
                <a:solidFill>
                  <a:srgbClr val="AB47BC"/>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TripCard and FlightCard sub-components</a:t>
            </a:r>
            <a:endParaRPr lang="en-US" sz="950" dirty="0"/>
          </a:p>
        </p:txBody>
      </p:sp>
      <p:sp>
        <p:nvSpPr>
          <p:cNvPr id="24" name="Text 22"/>
          <p:cNvSpPr/>
          <p:nvPr/>
        </p:nvSpPr>
        <p:spPr>
          <a:xfrm>
            <a:off x="4846320" y="3712464"/>
            <a:ext cx="3749040" cy="274320"/>
          </a:xfrm>
          <a:prstGeom prst="rect">
            <a:avLst/>
          </a:prstGeom>
          <a:noFill/>
          <a:ln/>
        </p:spPr>
        <p:txBody>
          <a:bodyPr wrap="square" rtlCol="0" anchor="ctr"/>
          <a:lstStyle/>
          <a:p>
            <a:pPr indent="0" marL="0">
              <a:buNone/>
            </a:pPr>
            <a:r>
              <a:rPr lang="en-US" sz="950" b="1" dirty="0">
                <a:solidFill>
                  <a:srgbClr val="AB47BC"/>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Reusable workspace for trip visualization</a:t>
            </a:r>
            <a:endParaRPr lang="en-US" sz="950" dirty="0"/>
          </a:p>
        </p:txBody>
      </p:sp>
      <p:sp>
        <p:nvSpPr>
          <p:cNvPr id="25" name="Text 23"/>
          <p:cNvSpPr/>
          <p:nvPr/>
        </p:nvSpPr>
        <p:spPr>
          <a:xfrm>
            <a:off x="4846320" y="4023360"/>
            <a:ext cx="3749040" cy="274320"/>
          </a:xfrm>
          <a:prstGeom prst="rect">
            <a:avLst/>
          </a:prstGeom>
          <a:noFill/>
          <a:ln/>
        </p:spPr>
        <p:txBody>
          <a:bodyPr wrap="square" rtlCol="0" anchor="ctr"/>
          <a:lstStyle/>
          <a:p>
            <a:pPr indent="0" marL="0">
              <a:buNone/>
            </a:pPr>
            <a:r>
              <a:rPr lang="en-US" sz="950" b="1" dirty="0">
                <a:solidFill>
                  <a:srgbClr val="AB47BC"/>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Modular card design for trip details display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indent="0" marL="0">
              <a:buNone/>
            </a:pPr>
            <a:r>
              <a:rPr lang="en-US" sz="3000" b="1" dirty="0">
                <a:solidFill>
                  <a:srgbClr val="0D2B4E"/>
                </a:solidFill>
                <a:latin typeface="Cambria" pitchFamily="34" charset="0"/>
                <a:ea typeface="Cambria" pitchFamily="34" charset="-122"/>
                <a:cs typeface="Cambria" pitchFamily="34" charset="-120"/>
              </a:rPr>
              <a:t>System Workflow</a:t>
            </a:r>
            <a:endParaRPr lang="en-US" sz="3000" dirty="0"/>
          </a:p>
        </p:txBody>
      </p:sp>
      <p:sp>
        <p:nvSpPr>
          <p:cNvPr id="3" name="Text 1"/>
          <p:cNvSpPr/>
          <p:nvPr/>
        </p:nvSpPr>
        <p:spPr>
          <a:xfrm>
            <a:off x="457200" y="731520"/>
            <a:ext cx="8229600" cy="320040"/>
          </a:xfrm>
          <a:prstGeom prst="rect">
            <a:avLst/>
          </a:prstGeom>
          <a:noFill/>
          <a:ln/>
        </p:spPr>
        <p:txBody>
          <a:bodyPr wrap="square" rtlCol="0" anchor="ctr"/>
          <a:lstStyle/>
          <a:p>
            <a:pPr indent="0" marL="0">
              <a:buNone/>
            </a:pPr>
            <a:r>
              <a:rPr lang="en-US" sz="1250" i="1" dirty="0">
                <a:solidFill>
                  <a:srgbClr val="78909C"/>
                </a:solidFill>
                <a:latin typeface="Calibri" pitchFamily="34" charset="0"/>
                <a:ea typeface="Calibri" pitchFamily="34" charset="-122"/>
                <a:cs typeface="Calibri" pitchFamily="34" charset="-120"/>
              </a:rPr>
              <a:t>How data flows between the user, the React app, Firebase Auth, and external APIs</a:t>
            </a:r>
            <a:endParaRPr lang="en-US" sz="1250" dirty="0"/>
          </a:p>
        </p:txBody>
      </p:sp>
      <p:sp>
        <p:nvSpPr>
          <p:cNvPr id="4" name="Shape 2"/>
          <p:cNvSpPr/>
          <p:nvPr/>
        </p:nvSpPr>
        <p:spPr>
          <a:xfrm>
            <a:off x="274320" y="1280160"/>
            <a:ext cx="1554480" cy="640080"/>
          </a:xfrm>
          <a:prstGeom prst="roundRect">
            <a:avLst>
              <a:gd name="adj" fmla="val 14286"/>
            </a:avLst>
          </a:prstGeom>
          <a:solidFill>
            <a:srgbClr val="0D2B4E"/>
          </a:solidFill>
          <a:ln/>
          <a:effectLst>
            <a:outerShdw sx="100000" sy="100000" kx="0" ky="0" algn="bl" rotWithShape="0" blurRad="101600" dist="38100" dir="2700000">
              <a:srgbClr val="000000">
                <a:alpha val="12000"/>
              </a:srgbClr>
            </a:outerShdw>
          </a:effectLst>
        </p:spPr>
      </p:sp>
      <p:sp>
        <p:nvSpPr>
          <p:cNvPr id="5" name="Text 3"/>
          <p:cNvSpPr/>
          <p:nvPr/>
        </p:nvSpPr>
        <p:spPr>
          <a:xfrm>
            <a:off x="274320" y="1280160"/>
            <a:ext cx="155448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Browser</a:t>
            </a:r>
            <a:endParaRPr lang="en-US" sz="1000" dirty="0"/>
          </a:p>
        </p:txBody>
      </p:sp>
      <p:sp>
        <p:nvSpPr>
          <p:cNvPr id="6" name="Shape 4"/>
          <p:cNvSpPr/>
          <p:nvPr/>
        </p:nvSpPr>
        <p:spPr>
          <a:xfrm>
            <a:off x="2286000" y="1280160"/>
            <a:ext cx="1554480" cy="640080"/>
          </a:xfrm>
          <a:prstGeom prst="roundRect">
            <a:avLst>
              <a:gd name="adj" fmla="val 14286"/>
            </a:avLst>
          </a:prstGeom>
          <a:solidFill>
            <a:srgbClr val="1565C0"/>
          </a:solidFill>
          <a:ln/>
          <a:effectLst>
            <a:outerShdw sx="100000" sy="100000" kx="0" ky="0" algn="bl" rotWithShape="0" blurRad="101600" dist="38100" dir="2700000">
              <a:srgbClr val="000000">
                <a:alpha val="12000"/>
              </a:srgbClr>
            </a:outerShdw>
          </a:effectLst>
        </p:spPr>
      </p:sp>
      <p:sp>
        <p:nvSpPr>
          <p:cNvPr id="7" name="Text 5"/>
          <p:cNvSpPr/>
          <p:nvPr/>
        </p:nvSpPr>
        <p:spPr>
          <a:xfrm>
            <a:off x="2286000" y="1280160"/>
            <a:ext cx="155448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React SPA</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(Vite)</a:t>
            </a:r>
            <a:endParaRPr lang="en-US" sz="1000" dirty="0"/>
          </a:p>
        </p:txBody>
      </p:sp>
      <p:sp>
        <p:nvSpPr>
          <p:cNvPr id="8" name="Shape 6"/>
          <p:cNvSpPr/>
          <p:nvPr/>
        </p:nvSpPr>
        <p:spPr>
          <a:xfrm>
            <a:off x="4251960" y="1280160"/>
            <a:ext cx="1645920" cy="640080"/>
          </a:xfrm>
          <a:prstGeom prst="roundRect">
            <a:avLst>
              <a:gd name="adj" fmla="val 14286"/>
            </a:avLst>
          </a:prstGeom>
          <a:solidFill>
            <a:srgbClr val="00897B"/>
          </a:solidFill>
          <a:ln/>
          <a:effectLst>
            <a:outerShdw sx="100000" sy="100000" kx="0" ky="0" algn="bl" rotWithShape="0" blurRad="101600" dist="38100" dir="2700000">
              <a:srgbClr val="000000">
                <a:alpha val="12000"/>
              </a:srgbClr>
            </a:outerShdw>
          </a:effectLst>
        </p:spPr>
      </p:sp>
      <p:sp>
        <p:nvSpPr>
          <p:cNvPr id="9" name="Text 7"/>
          <p:cNvSpPr/>
          <p:nvPr/>
        </p:nvSpPr>
        <p:spPr>
          <a:xfrm>
            <a:off x="4251960" y="128016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Firebase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Auth</a:t>
            </a:r>
            <a:endParaRPr lang="en-US" sz="1000" dirty="0"/>
          </a:p>
        </p:txBody>
      </p:sp>
      <p:sp>
        <p:nvSpPr>
          <p:cNvPr id="10" name="Shape 8"/>
          <p:cNvSpPr/>
          <p:nvPr/>
        </p:nvSpPr>
        <p:spPr>
          <a:xfrm>
            <a:off x="6355080" y="1280160"/>
            <a:ext cx="1691640" cy="640080"/>
          </a:xfrm>
          <a:prstGeom prst="roundRect">
            <a:avLst>
              <a:gd name="adj" fmla="val 14286"/>
            </a:avLst>
          </a:prstGeom>
          <a:solidFill>
            <a:srgbClr val="FF8F00"/>
          </a:solidFill>
          <a:ln/>
          <a:effectLst>
            <a:outerShdw sx="100000" sy="100000" kx="0" ky="0" algn="bl" rotWithShape="0" blurRad="101600" dist="38100" dir="2700000">
              <a:srgbClr val="000000">
                <a:alpha val="12000"/>
              </a:srgbClr>
            </a:outerShdw>
          </a:effectLst>
        </p:spPr>
      </p:sp>
      <p:sp>
        <p:nvSpPr>
          <p:cNvPr id="11" name="Text 9"/>
          <p:cNvSpPr/>
          <p:nvPr/>
        </p:nvSpPr>
        <p:spPr>
          <a:xfrm>
            <a:off x="6355080" y="1280160"/>
            <a:ext cx="169164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Firestore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DB</a:t>
            </a:r>
            <a:endParaRPr lang="en-US" sz="1000" dirty="0"/>
          </a:p>
        </p:txBody>
      </p:sp>
      <p:sp>
        <p:nvSpPr>
          <p:cNvPr id="12" name="Shape 10"/>
          <p:cNvSpPr/>
          <p:nvPr/>
        </p:nvSpPr>
        <p:spPr>
          <a:xfrm>
            <a:off x="2286000" y="2560320"/>
            <a:ext cx="1554480" cy="640080"/>
          </a:xfrm>
          <a:prstGeom prst="roundRect">
            <a:avLst>
              <a:gd name="adj" fmla="val 14286"/>
            </a:avLst>
          </a:prstGeom>
          <a:solidFill>
            <a:srgbClr val="7B1FA2"/>
          </a:solidFill>
          <a:ln/>
          <a:effectLst>
            <a:outerShdw sx="100000" sy="100000" kx="0" ky="0" algn="bl" rotWithShape="0" blurRad="101600" dist="38100" dir="2700000">
              <a:srgbClr val="000000">
                <a:alpha val="12000"/>
              </a:srgbClr>
            </a:outerShdw>
          </a:effectLst>
        </p:spPr>
      </p:sp>
      <p:sp>
        <p:nvSpPr>
          <p:cNvPr id="13" name="Text 11"/>
          <p:cNvSpPr/>
          <p:nvPr/>
        </p:nvSpPr>
        <p:spPr>
          <a:xfrm>
            <a:off x="2286000" y="2560320"/>
            <a:ext cx="155448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Gemini AI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API</a:t>
            </a:r>
            <a:endParaRPr lang="en-US" sz="1000" dirty="0"/>
          </a:p>
        </p:txBody>
      </p:sp>
      <p:sp>
        <p:nvSpPr>
          <p:cNvPr id="14" name="Shape 12"/>
          <p:cNvSpPr/>
          <p:nvPr/>
        </p:nvSpPr>
        <p:spPr>
          <a:xfrm>
            <a:off x="4572000" y="2560320"/>
            <a:ext cx="1554480" cy="640080"/>
          </a:xfrm>
          <a:prstGeom prst="roundRect">
            <a:avLst>
              <a:gd name="adj" fmla="val 14286"/>
            </a:avLst>
          </a:prstGeom>
          <a:solidFill>
            <a:srgbClr val="D32F2F"/>
          </a:solidFill>
          <a:ln/>
          <a:effectLst>
            <a:outerShdw sx="100000" sy="100000" kx="0" ky="0" algn="bl" rotWithShape="0" blurRad="101600" dist="38100" dir="2700000">
              <a:srgbClr val="000000">
                <a:alpha val="12000"/>
              </a:srgbClr>
            </a:outerShdw>
          </a:effectLst>
        </p:spPr>
      </p:sp>
      <p:sp>
        <p:nvSpPr>
          <p:cNvPr id="15" name="Text 13"/>
          <p:cNvSpPr/>
          <p:nvPr/>
        </p:nvSpPr>
        <p:spPr>
          <a:xfrm>
            <a:off x="4572000" y="2560320"/>
            <a:ext cx="155448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RapidAPI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Flights</a:t>
            </a:r>
            <a:endParaRPr lang="en-US" sz="1000" dirty="0"/>
          </a:p>
        </p:txBody>
      </p:sp>
      <p:sp>
        <p:nvSpPr>
          <p:cNvPr id="16" name="Shape 14"/>
          <p:cNvSpPr/>
          <p:nvPr/>
        </p:nvSpPr>
        <p:spPr>
          <a:xfrm>
            <a:off x="1828800" y="1600200"/>
            <a:ext cx="457200" cy="0"/>
          </a:xfrm>
          <a:prstGeom prst="line">
            <a:avLst/>
          </a:prstGeom>
          <a:noFill/>
          <a:ln w="25400">
            <a:solidFill>
              <a:srgbClr val="1565C0"/>
            </a:solidFill>
            <a:prstDash val="solid"/>
          </a:ln>
        </p:spPr>
      </p:sp>
      <p:sp>
        <p:nvSpPr>
          <p:cNvPr id="17" name="Shape 15"/>
          <p:cNvSpPr/>
          <p:nvPr/>
        </p:nvSpPr>
        <p:spPr>
          <a:xfrm>
            <a:off x="3840480" y="1600200"/>
            <a:ext cx="411480" cy="0"/>
          </a:xfrm>
          <a:prstGeom prst="line">
            <a:avLst/>
          </a:prstGeom>
          <a:noFill/>
          <a:ln w="25400">
            <a:solidFill>
              <a:srgbClr val="00897B"/>
            </a:solidFill>
            <a:prstDash val="solid"/>
          </a:ln>
        </p:spPr>
      </p:sp>
      <p:sp>
        <p:nvSpPr>
          <p:cNvPr id="18" name="Shape 16"/>
          <p:cNvSpPr/>
          <p:nvPr/>
        </p:nvSpPr>
        <p:spPr>
          <a:xfrm>
            <a:off x="3840480" y="1508760"/>
            <a:ext cx="2514600" cy="0"/>
          </a:xfrm>
          <a:prstGeom prst="line">
            <a:avLst/>
          </a:prstGeom>
          <a:noFill/>
          <a:ln w="19050">
            <a:solidFill>
              <a:srgbClr val="FF8F00"/>
            </a:solidFill>
            <a:prstDash val="solid"/>
          </a:ln>
        </p:spPr>
      </p:sp>
      <p:sp>
        <p:nvSpPr>
          <p:cNvPr id="19" name="Shape 17"/>
          <p:cNvSpPr/>
          <p:nvPr/>
        </p:nvSpPr>
        <p:spPr>
          <a:xfrm>
            <a:off x="3063240" y="1920240"/>
            <a:ext cx="0" cy="640080"/>
          </a:xfrm>
          <a:prstGeom prst="line">
            <a:avLst/>
          </a:prstGeom>
          <a:noFill/>
          <a:ln w="25400">
            <a:solidFill>
              <a:srgbClr val="7B1FA2"/>
            </a:solidFill>
            <a:prstDash val="solid"/>
          </a:ln>
        </p:spPr>
      </p:sp>
      <p:sp>
        <p:nvSpPr>
          <p:cNvPr id="20" name="Shape 18"/>
          <p:cNvSpPr/>
          <p:nvPr/>
        </p:nvSpPr>
        <p:spPr>
          <a:xfrm>
            <a:off x="3291840" y="1920240"/>
            <a:ext cx="2057400" cy="640080"/>
          </a:xfrm>
          <a:prstGeom prst="line">
            <a:avLst/>
          </a:prstGeom>
          <a:noFill/>
          <a:ln w="25400">
            <a:solidFill>
              <a:srgbClr val="D32F2F"/>
            </a:solidFill>
            <a:prstDash val="solid"/>
          </a:ln>
        </p:spPr>
      </p:sp>
      <p:sp>
        <p:nvSpPr>
          <p:cNvPr id="21" name="Shape 19"/>
          <p:cNvSpPr/>
          <p:nvPr/>
        </p:nvSpPr>
        <p:spPr>
          <a:xfrm>
            <a:off x="274320" y="3337560"/>
            <a:ext cx="8595360" cy="1600200"/>
          </a:xfrm>
          <a:prstGeom prst="roundRect">
            <a:avLst>
              <a:gd name="adj" fmla="val 5714"/>
            </a:avLst>
          </a:prstGeom>
          <a:solidFill>
            <a:srgbClr val="FFFFFF"/>
          </a:solidFill>
          <a:ln/>
          <a:effectLst>
            <a:outerShdw sx="100000" sy="100000" kx="0" ky="0" algn="bl" rotWithShape="0" blurRad="101600" dist="38100" dir="2700000">
              <a:srgbClr val="000000">
                <a:alpha val="12000"/>
              </a:srgbClr>
            </a:outerShdw>
          </a:effectLst>
        </p:spPr>
      </p:sp>
      <p:sp>
        <p:nvSpPr>
          <p:cNvPr id="22" name="Text 20"/>
          <p:cNvSpPr/>
          <p:nvPr/>
        </p:nvSpPr>
        <p:spPr>
          <a:xfrm>
            <a:off x="457200" y="3401568"/>
            <a:ext cx="8229600" cy="320040"/>
          </a:xfrm>
          <a:prstGeom prst="rect">
            <a:avLst/>
          </a:prstGeom>
          <a:noFill/>
          <a:ln/>
        </p:spPr>
        <p:txBody>
          <a:bodyPr wrap="square" rtlCol="0" anchor="ctr"/>
          <a:lstStyle/>
          <a:p>
            <a:pPr indent="0" marL="0">
              <a:buNone/>
            </a:pPr>
            <a:r>
              <a:rPr lang="en-US" sz="1200" b="1" dirty="0">
                <a:solidFill>
                  <a:srgbClr val="0D2B4E"/>
                </a:solidFill>
                <a:latin typeface="Cambria" pitchFamily="34" charset="0"/>
                <a:ea typeface="Cambria" pitchFamily="34" charset="-122"/>
                <a:cs typeface="Cambria" pitchFamily="34" charset="-120"/>
              </a:rPr>
              <a:t>Data Flow Summary</a:t>
            </a:r>
            <a:endParaRPr lang="en-US" sz="1200" dirty="0"/>
          </a:p>
        </p:txBody>
      </p:sp>
      <p:sp>
        <p:nvSpPr>
          <p:cNvPr id="23" name="Text 21"/>
          <p:cNvSpPr/>
          <p:nvPr/>
        </p:nvSpPr>
        <p:spPr>
          <a:xfrm>
            <a:off x="457200" y="3749040"/>
            <a:ext cx="2560320" cy="228600"/>
          </a:xfrm>
          <a:prstGeom prst="rect">
            <a:avLst/>
          </a:prstGeom>
          <a:noFill/>
          <a:ln/>
        </p:spPr>
        <p:txBody>
          <a:bodyPr wrap="square"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 xml:space="preserve">User → React SPA: </a:t>
            </a:r>
            <a:endParaRPr lang="en-US" sz="900" dirty="0"/>
          </a:p>
        </p:txBody>
      </p:sp>
      <p:sp>
        <p:nvSpPr>
          <p:cNvPr id="24" name="Text 22"/>
          <p:cNvSpPr/>
          <p:nvPr/>
        </p:nvSpPr>
        <p:spPr>
          <a:xfrm>
            <a:off x="3017520" y="3749040"/>
            <a:ext cx="5669280" cy="228600"/>
          </a:xfrm>
          <a:prstGeom prst="rect">
            <a:avLst/>
          </a:prstGeom>
          <a:noFill/>
          <a:ln/>
        </p:spPr>
        <p:txBody>
          <a:bodyPr wrap="square" rtlCol="0" anchor="ctr"/>
          <a:lstStyle/>
          <a:p>
            <a:pPr indent="0" marL="0">
              <a:buNone/>
            </a:pPr>
            <a:r>
              <a:rPr lang="en-US" sz="900" dirty="0">
                <a:solidFill>
                  <a:srgbClr val="37474F"/>
                </a:solidFill>
                <a:latin typeface="Calibri" pitchFamily="34" charset="0"/>
                <a:ea typeface="Calibri" pitchFamily="34" charset="-122"/>
                <a:cs typeface="Calibri" pitchFamily="34" charset="-120"/>
              </a:rPr>
              <a:t>Interacts via pages: Home, Flights, Destinations, Planner, Dashboard, etc.</a:t>
            </a:r>
            <a:endParaRPr lang="en-US" sz="900" dirty="0"/>
          </a:p>
        </p:txBody>
      </p:sp>
      <p:sp>
        <p:nvSpPr>
          <p:cNvPr id="25" name="Text 23"/>
          <p:cNvSpPr/>
          <p:nvPr/>
        </p:nvSpPr>
        <p:spPr>
          <a:xfrm>
            <a:off x="457200" y="4005072"/>
            <a:ext cx="2560320" cy="228600"/>
          </a:xfrm>
          <a:prstGeom prst="rect">
            <a:avLst/>
          </a:prstGeom>
          <a:noFill/>
          <a:ln/>
        </p:spPr>
        <p:txBody>
          <a:bodyPr wrap="square"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 xml:space="preserve">React SPA → Firebase Auth: </a:t>
            </a:r>
            <a:endParaRPr lang="en-US" sz="900" dirty="0"/>
          </a:p>
        </p:txBody>
      </p:sp>
      <p:sp>
        <p:nvSpPr>
          <p:cNvPr id="26" name="Text 24"/>
          <p:cNvSpPr/>
          <p:nvPr/>
        </p:nvSpPr>
        <p:spPr>
          <a:xfrm>
            <a:off x="3017520" y="4005072"/>
            <a:ext cx="5669280" cy="228600"/>
          </a:xfrm>
          <a:prstGeom prst="rect">
            <a:avLst/>
          </a:prstGeom>
          <a:noFill/>
          <a:ln/>
        </p:spPr>
        <p:txBody>
          <a:bodyPr wrap="square" rtlCol="0" anchor="ctr"/>
          <a:lstStyle/>
          <a:p>
            <a:pPr indent="0" marL="0">
              <a:buNone/>
            </a:pPr>
            <a:r>
              <a:rPr lang="en-US" sz="900" dirty="0">
                <a:solidFill>
                  <a:srgbClr val="37474F"/>
                </a:solidFill>
                <a:latin typeface="Calibri" pitchFamily="34" charset="0"/>
                <a:ea typeface="Calibri" pitchFamily="34" charset="-122"/>
                <a:cs typeface="Calibri" pitchFamily="34" charset="-120"/>
              </a:rPr>
              <a:t>Login/Register with email+password → JWT token → protected routes via ProtectedRoutes.jsx</a:t>
            </a:r>
            <a:endParaRPr lang="en-US" sz="900" dirty="0"/>
          </a:p>
        </p:txBody>
      </p:sp>
      <p:sp>
        <p:nvSpPr>
          <p:cNvPr id="27" name="Text 25"/>
          <p:cNvSpPr/>
          <p:nvPr/>
        </p:nvSpPr>
        <p:spPr>
          <a:xfrm>
            <a:off x="457200" y="4261104"/>
            <a:ext cx="2560320" cy="228600"/>
          </a:xfrm>
          <a:prstGeom prst="rect">
            <a:avLst/>
          </a:prstGeom>
          <a:noFill/>
          <a:ln/>
        </p:spPr>
        <p:txBody>
          <a:bodyPr wrap="square"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 xml:space="preserve">React SPA → Firestore DB: </a:t>
            </a:r>
            <a:endParaRPr lang="en-US" sz="900" dirty="0"/>
          </a:p>
        </p:txBody>
      </p:sp>
      <p:sp>
        <p:nvSpPr>
          <p:cNvPr id="28" name="Text 26"/>
          <p:cNvSpPr/>
          <p:nvPr/>
        </p:nvSpPr>
        <p:spPr>
          <a:xfrm>
            <a:off x="3017520" y="4261104"/>
            <a:ext cx="5669280" cy="228600"/>
          </a:xfrm>
          <a:prstGeom prst="rect">
            <a:avLst/>
          </a:prstGeom>
          <a:noFill/>
          <a:ln/>
        </p:spPr>
        <p:txBody>
          <a:bodyPr wrap="square" rtlCol="0" anchor="ctr"/>
          <a:lstStyle/>
          <a:p>
            <a:pPr indent="0" marL="0">
              <a:buNone/>
            </a:pPr>
            <a:r>
              <a:rPr lang="en-US" sz="900" dirty="0">
                <a:solidFill>
                  <a:srgbClr val="37474F"/>
                </a:solidFill>
                <a:latin typeface="Calibri" pitchFamily="34" charset="0"/>
                <a:ea typeface="Calibri" pitchFamily="34" charset="-122"/>
                <a:cs typeface="Calibri" pitchFamily="34" charset="-120"/>
              </a:rPr>
              <a:t>Reads/writes savedFlights, aiPlans in localStorage/state in real time</a:t>
            </a:r>
            <a:endParaRPr lang="en-US" sz="900" dirty="0"/>
          </a:p>
        </p:txBody>
      </p:sp>
      <p:sp>
        <p:nvSpPr>
          <p:cNvPr id="29" name="Text 27"/>
          <p:cNvSpPr/>
          <p:nvPr/>
        </p:nvSpPr>
        <p:spPr>
          <a:xfrm>
            <a:off x="457200" y="4517136"/>
            <a:ext cx="2560320" cy="228600"/>
          </a:xfrm>
          <a:prstGeom prst="rect">
            <a:avLst/>
          </a:prstGeom>
          <a:noFill/>
          <a:ln/>
        </p:spPr>
        <p:txBody>
          <a:bodyPr wrap="square"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 xml:space="preserve">React SPA → Gemini AI: </a:t>
            </a:r>
            <a:endParaRPr lang="en-US" sz="900" dirty="0"/>
          </a:p>
        </p:txBody>
      </p:sp>
      <p:sp>
        <p:nvSpPr>
          <p:cNvPr id="30" name="Text 28"/>
          <p:cNvSpPr/>
          <p:nvPr/>
        </p:nvSpPr>
        <p:spPr>
          <a:xfrm>
            <a:off x="3017520" y="4517136"/>
            <a:ext cx="5669280" cy="228600"/>
          </a:xfrm>
          <a:prstGeom prst="rect">
            <a:avLst/>
          </a:prstGeom>
          <a:noFill/>
          <a:ln/>
        </p:spPr>
        <p:txBody>
          <a:bodyPr wrap="square" rtlCol="0" anchor="ctr"/>
          <a:lstStyle/>
          <a:p>
            <a:pPr indent="0" marL="0">
              <a:buNone/>
            </a:pPr>
            <a:r>
              <a:rPr lang="en-US" sz="900" dirty="0">
                <a:solidFill>
                  <a:srgbClr val="37474F"/>
                </a:solidFill>
                <a:latin typeface="Calibri" pitchFamily="34" charset="0"/>
                <a:ea typeface="Calibri" pitchFamily="34" charset="-122"/>
                <a:cs typeface="Calibri" pitchFamily="34" charset="-120"/>
              </a:rPr>
              <a:t>POST to Gemini 2.5 Flash API → structured JSON travel recommendations &amp; itineraries</a:t>
            </a:r>
            <a:endParaRPr lang="en-US" sz="900" dirty="0"/>
          </a:p>
        </p:txBody>
      </p:sp>
      <p:sp>
        <p:nvSpPr>
          <p:cNvPr id="31" name="Text 29"/>
          <p:cNvSpPr/>
          <p:nvPr/>
        </p:nvSpPr>
        <p:spPr>
          <a:xfrm>
            <a:off x="457200" y="4773168"/>
            <a:ext cx="2560320" cy="228600"/>
          </a:xfrm>
          <a:prstGeom prst="rect">
            <a:avLst/>
          </a:prstGeom>
          <a:noFill/>
          <a:ln/>
        </p:spPr>
        <p:txBody>
          <a:bodyPr wrap="square"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 xml:space="preserve">React SPA → RapidAPI: </a:t>
            </a:r>
            <a:endParaRPr lang="en-US" sz="900" dirty="0"/>
          </a:p>
        </p:txBody>
      </p:sp>
      <p:sp>
        <p:nvSpPr>
          <p:cNvPr id="32" name="Text 30"/>
          <p:cNvSpPr/>
          <p:nvPr/>
        </p:nvSpPr>
        <p:spPr>
          <a:xfrm>
            <a:off x="3017520" y="4773168"/>
            <a:ext cx="5669280" cy="228600"/>
          </a:xfrm>
          <a:prstGeom prst="rect">
            <a:avLst/>
          </a:prstGeom>
          <a:noFill/>
          <a:ln/>
        </p:spPr>
        <p:txBody>
          <a:bodyPr wrap="square" rtlCol="0" anchor="ctr"/>
          <a:lstStyle/>
          <a:p>
            <a:pPr indent="0" marL="0">
              <a:buNone/>
            </a:pPr>
            <a:r>
              <a:rPr lang="en-US" sz="900" dirty="0">
                <a:solidFill>
                  <a:srgbClr val="37474F"/>
                </a:solidFill>
                <a:latin typeface="Calibri" pitchFamily="34" charset="0"/>
                <a:ea typeface="Calibri" pitchFamily="34" charset="-122"/>
                <a:cs typeface="Calibri" pitchFamily="34" charset="-120"/>
              </a:rPr>
              <a:t>GET flights-sky auto-complete and search-one-way endpoints → live flight results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B4E"/>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Technologies Used</a:t>
            </a:r>
            <a:endParaRPr lang="en-US" sz="3000" dirty="0"/>
          </a:p>
        </p:txBody>
      </p:sp>
      <p:sp>
        <p:nvSpPr>
          <p:cNvPr id="3" name="Shape 1"/>
          <p:cNvSpPr/>
          <p:nvPr/>
        </p:nvSpPr>
        <p:spPr>
          <a:xfrm>
            <a:off x="411480" y="1005840"/>
            <a:ext cx="2057400" cy="3840480"/>
          </a:xfrm>
          <a:prstGeom prst="roundRect">
            <a:avLst>
              <a:gd name="adj" fmla="val 4444"/>
            </a:avLst>
          </a:prstGeom>
          <a:solidFill>
            <a:srgbClr val="1565C0"/>
          </a:solidFill>
          <a:ln/>
          <a:effectLst>
            <a:outerShdw sx="100000" sy="100000" kx="0" ky="0" algn="bl" rotWithShape="0" blurRad="101600" dist="38100" dir="2700000">
              <a:srgbClr val="000000">
                <a:alpha val="12000"/>
              </a:srgbClr>
            </a:outerShdw>
          </a:effectLst>
        </p:spPr>
      </p:sp>
      <p:sp>
        <p:nvSpPr>
          <p:cNvPr id="4" name="Shape 2"/>
          <p:cNvSpPr/>
          <p:nvPr/>
        </p:nvSpPr>
        <p:spPr>
          <a:xfrm>
            <a:off x="411480" y="1005840"/>
            <a:ext cx="2057400" cy="566928"/>
          </a:xfrm>
          <a:prstGeom prst="roundRect">
            <a:avLst>
              <a:gd name="adj" fmla="val 16129"/>
            </a:avLst>
          </a:prstGeom>
          <a:solidFill>
            <a:srgbClr val="1E88E5"/>
          </a:solidFill>
          <a:ln w="12700">
            <a:solidFill>
              <a:srgbClr val="1E88E5"/>
            </a:solidFill>
            <a:prstDash val="solid"/>
          </a:ln>
        </p:spPr>
      </p:sp>
      <p:sp>
        <p:nvSpPr>
          <p:cNvPr id="5" name="Shape 3"/>
          <p:cNvSpPr/>
          <p:nvPr/>
        </p:nvSpPr>
        <p:spPr>
          <a:xfrm>
            <a:off x="411480" y="1417320"/>
            <a:ext cx="2057400" cy="182880"/>
          </a:xfrm>
          <a:prstGeom prst="rect">
            <a:avLst/>
          </a:prstGeom>
          <a:solidFill>
            <a:srgbClr val="1E88E5"/>
          </a:solidFill>
          <a:ln w="12700">
            <a:solidFill>
              <a:srgbClr val="1E88E5"/>
            </a:solidFill>
            <a:prstDash val="solid"/>
          </a:ln>
        </p:spPr>
      </p:sp>
      <p:sp>
        <p:nvSpPr>
          <p:cNvPr id="6" name="Text 4"/>
          <p:cNvSpPr/>
          <p:nvPr/>
        </p:nvSpPr>
        <p:spPr>
          <a:xfrm>
            <a:off x="502920" y="1060704"/>
            <a:ext cx="1874520" cy="438912"/>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Frontend</a:t>
            </a:r>
            <a:endParaRPr lang="en-US" sz="1300" dirty="0"/>
          </a:p>
        </p:txBody>
      </p:sp>
      <p:sp>
        <p:nvSpPr>
          <p:cNvPr id="7" name="Text 5"/>
          <p:cNvSpPr/>
          <p:nvPr/>
        </p:nvSpPr>
        <p:spPr>
          <a:xfrm>
            <a:off x="502920" y="1719072"/>
            <a:ext cx="1874520" cy="438912"/>
          </a:xfrm>
          <a:prstGeom prst="rect">
            <a:avLst/>
          </a:prstGeom>
          <a:noFill/>
          <a:ln/>
        </p:spPr>
        <p:txBody>
          <a:bodyPr wrap="square" rtlCol="0" anchor="ctr"/>
          <a:lstStyle/>
          <a:p>
            <a:pPr indent="0" marL="0">
              <a:buNone/>
            </a:pPr>
            <a:r>
              <a:rPr lang="en-US" sz="950"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React 18 (Vite)</a:t>
            </a:r>
            <a:endParaRPr lang="en-US" sz="950" dirty="0"/>
          </a:p>
        </p:txBody>
      </p:sp>
      <p:sp>
        <p:nvSpPr>
          <p:cNvPr id="8" name="Text 6"/>
          <p:cNvSpPr/>
          <p:nvPr/>
        </p:nvSpPr>
        <p:spPr>
          <a:xfrm>
            <a:off x="502920" y="2212848"/>
            <a:ext cx="1874520" cy="438912"/>
          </a:xfrm>
          <a:prstGeom prst="rect">
            <a:avLst/>
          </a:prstGeom>
          <a:noFill/>
          <a:ln/>
        </p:spPr>
        <p:txBody>
          <a:bodyPr wrap="square" rtlCol="0" anchor="ctr"/>
          <a:lstStyle/>
          <a:p>
            <a:pPr indent="0" marL="0">
              <a:buNone/>
            </a:pPr>
            <a:r>
              <a:rPr lang="en-US" sz="950"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React Router DOM v6</a:t>
            </a:r>
            <a:endParaRPr lang="en-US" sz="950" dirty="0"/>
          </a:p>
        </p:txBody>
      </p:sp>
      <p:sp>
        <p:nvSpPr>
          <p:cNvPr id="9" name="Text 7"/>
          <p:cNvSpPr/>
          <p:nvPr/>
        </p:nvSpPr>
        <p:spPr>
          <a:xfrm>
            <a:off x="502920" y="2706624"/>
            <a:ext cx="1874520" cy="438912"/>
          </a:xfrm>
          <a:prstGeom prst="rect">
            <a:avLst/>
          </a:prstGeom>
          <a:noFill/>
          <a:ln/>
        </p:spPr>
        <p:txBody>
          <a:bodyPr wrap="square" rtlCol="0" anchor="ctr"/>
          <a:lstStyle/>
          <a:p>
            <a:pPr indent="0" marL="0">
              <a:buNone/>
            </a:pPr>
            <a:r>
              <a:rPr lang="en-US" sz="950"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CSS Modules</a:t>
            </a:r>
            <a:endParaRPr lang="en-US" sz="950" dirty="0"/>
          </a:p>
        </p:txBody>
      </p:sp>
      <p:sp>
        <p:nvSpPr>
          <p:cNvPr id="10" name="Text 8"/>
          <p:cNvSpPr/>
          <p:nvPr/>
        </p:nvSpPr>
        <p:spPr>
          <a:xfrm>
            <a:off x="502920" y="3200400"/>
            <a:ext cx="1874520" cy="438912"/>
          </a:xfrm>
          <a:prstGeom prst="rect">
            <a:avLst/>
          </a:prstGeom>
          <a:noFill/>
          <a:ln/>
        </p:spPr>
        <p:txBody>
          <a:bodyPr wrap="square" rtlCol="0" anchor="ctr"/>
          <a:lstStyle/>
          <a:p>
            <a:pPr indent="0" marL="0">
              <a:buNone/>
            </a:pPr>
            <a:r>
              <a:rPr lang="en-US" sz="950"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Bootstrap 5</a:t>
            </a:r>
            <a:endParaRPr lang="en-US" sz="950" dirty="0"/>
          </a:p>
        </p:txBody>
      </p:sp>
      <p:sp>
        <p:nvSpPr>
          <p:cNvPr id="11" name="Text 9"/>
          <p:cNvSpPr/>
          <p:nvPr/>
        </p:nvSpPr>
        <p:spPr>
          <a:xfrm>
            <a:off x="502920" y="3694176"/>
            <a:ext cx="1874520" cy="438912"/>
          </a:xfrm>
          <a:prstGeom prst="rect">
            <a:avLst/>
          </a:prstGeom>
          <a:noFill/>
          <a:ln/>
        </p:spPr>
        <p:txBody>
          <a:bodyPr wrap="square" rtlCol="0" anchor="ctr"/>
          <a:lstStyle/>
          <a:p>
            <a:pPr indent="0" marL="0">
              <a:buNone/>
            </a:pPr>
            <a:r>
              <a:rPr lang="en-US" sz="950"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Framer Motion</a:t>
            </a:r>
            <a:endParaRPr lang="en-US" sz="950" dirty="0"/>
          </a:p>
        </p:txBody>
      </p:sp>
      <p:sp>
        <p:nvSpPr>
          <p:cNvPr id="12" name="Text 10"/>
          <p:cNvSpPr/>
          <p:nvPr/>
        </p:nvSpPr>
        <p:spPr>
          <a:xfrm>
            <a:off x="502920" y="4187952"/>
            <a:ext cx="1874520" cy="438912"/>
          </a:xfrm>
          <a:prstGeom prst="rect">
            <a:avLst/>
          </a:prstGeom>
          <a:noFill/>
          <a:ln/>
        </p:spPr>
        <p:txBody>
          <a:bodyPr wrap="square" rtlCol="0" anchor="ctr"/>
          <a:lstStyle/>
          <a:p>
            <a:pPr indent="0" marL="0">
              <a:buNone/>
            </a:pPr>
            <a:r>
              <a:rPr lang="en-US" sz="950" dirty="0">
                <a:solidFill>
                  <a:srgbClr val="1E88E5"/>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Lucide React Icons</a:t>
            </a:r>
            <a:endParaRPr lang="en-US" sz="950" dirty="0"/>
          </a:p>
        </p:txBody>
      </p:sp>
      <p:sp>
        <p:nvSpPr>
          <p:cNvPr id="13" name="Shape 11"/>
          <p:cNvSpPr/>
          <p:nvPr/>
        </p:nvSpPr>
        <p:spPr>
          <a:xfrm>
            <a:off x="2651760" y="1005840"/>
            <a:ext cx="2057400" cy="3840480"/>
          </a:xfrm>
          <a:prstGeom prst="roundRect">
            <a:avLst>
              <a:gd name="adj" fmla="val 4444"/>
            </a:avLst>
          </a:prstGeom>
          <a:solidFill>
            <a:srgbClr val="1565C0"/>
          </a:solidFill>
          <a:ln/>
          <a:effectLst>
            <a:outerShdw sx="100000" sy="100000" kx="0" ky="0" algn="bl" rotWithShape="0" blurRad="101600" dist="38100" dir="2700000">
              <a:srgbClr val="000000">
                <a:alpha val="12000"/>
              </a:srgbClr>
            </a:outerShdw>
          </a:effectLst>
        </p:spPr>
      </p:sp>
      <p:sp>
        <p:nvSpPr>
          <p:cNvPr id="14" name="Shape 12"/>
          <p:cNvSpPr/>
          <p:nvPr/>
        </p:nvSpPr>
        <p:spPr>
          <a:xfrm>
            <a:off x="2651760" y="1005840"/>
            <a:ext cx="2057400" cy="566928"/>
          </a:xfrm>
          <a:prstGeom prst="roundRect">
            <a:avLst>
              <a:gd name="adj" fmla="val 16129"/>
            </a:avLst>
          </a:prstGeom>
          <a:solidFill>
            <a:srgbClr val="FF8F00"/>
          </a:solidFill>
          <a:ln w="12700">
            <a:solidFill>
              <a:srgbClr val="FF8F00"/>
            </a:solidFill>
            <a:prstDash val="solid"/>
          </a:ln>
        </p:spPr>
      </p:sp>
      <p:sp>
        <p:nvSpPr>
          <p:cNvPr id="15" name="Shape 13"/>
          <p:cNvSpPr/>
          <p:nvPr/>
        </p:nvSpPr>
        <p:spPr>
          <a:xfrm>
            <a:off x="2651760" y="1417320"/>
            <a:ext cx="2057400" cy="182880"/>
          </a:xfrm>
          <a:prstGeom prst="rect">
            <a:avLst/>
          </a:prstGeom>
          <a:solidFill>
            <a:srgbClr val="FF8F00"/>
          </a:solidFill>
          <a:ln w="12700">
            <a:solidFill>
              <a:srgbClr val="FF8F00"/>
            </a:solidFill>
            <a:prstDash val="solid"/>
          </a:ln>
        </p:spPr>
      </p:sp>
      <p:sp>
        <p:nvSpPr>
          <p:cNvPr id="16" name="Text 14"/>
          <p:cNvSpPr/>
          <p:nvPr/>
        </p:nvSpPr>
        <p:spPr>
          <a:xfrm>
            <a:off x="2743200" y="1060704"/>
            <a:ext cx="1874520" cy="438912"/>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AI &amp; APIs</a:t>
            </a:r>
            <a:endParaRPr lang="en-US" sz="1300" dirty="0"/>
          </a:p>
        </p:txBody>
      </p:sp>
      <p:sp>
        <p:nvSpPr>
          <p:cNvPr id="17" name="Text 15"/>
          <p:cNvSpPr/>
          <p:nvPr/>
        </p:nvSpPr>
        <p:spPr>
          <a:xfrm>
            <a:off x="2743200" y="1719072"/>
            <a:ext cx="1874520" cy="438912"/>
          </a:xfrm>
          <a:prstGeom prst="rect">
            <a:avLst/>
          </a:prstGeom>
          <a:noFill/>
          <a:ln/>
        </p:spPr>
        <p:txBody>
          <a:bodyPr wrap="square" rtlCol="0" anchor="ctr"/>
          <a:lstStyle/>
          <a:p>
            <a:pPr indent="0" marL="0">
              <a:buNone/>
            </a:pPr>
            <a:r>
              <a:rPr lang="en-US" sz="950"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Google Gemini 2.5 Flash</a:t>
            </a:r>
            <a:endParaRPr lang="en-US" sz="950" dirty="0"/>
          </a:p>
        </p:txBody>
      </p:sp>
      <p:sp>
        <p:nvSpPr>
          <p:cNvPr id="18" name="Text 16"/>
          <p:cNvSpPr/>
          <p:nvPr/>
        </p:nvSpPr>
        <p:spPr>
          <a:xfrm>
            <a:off x="2743200" y="2212848"/>
            <a:ext cx="1874520" cy="438912"/>
          </a:xfrm>
          <a:prstGeom prst="rect">
            <a:avLst/>
          </a:prstGeom>
          <a:noFill/>
          <a:ln/>
        </p:spPr>
        <p:txBody>
          <a:bodyPr wrap="square" rtlCol="0" anchor="ctr"/>
          <a:lstStyle/>
          <a:p>
            <a:pPr indent="0" marL="0">
              <a:buNone/>
            </a:pPr>
            <a:r>
              <a:rPr lang="en-US" sz="950"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RapidAPI flights-sky</a:t>
            </a:r>
            <a:endParaRPr lang="en-US" sz="950" dirty="0"/>
          </a:p>
        </p:txBody>
      </p:sp>
      <p:sp>
        <p:nvSpPr>
          <p:cNvPr id="19" name="Text 17"/>
          <p:cNvSpPr/>
          <p:nvPr/>
        </p:nvSpPr>
        <p:spPr>
          <a:xfrm>
            <a:off x="2743200" y="2706624"/>
            <a:ext cx="1874520" cy="438912"/>
          </a:xfrm>
          <a:prstGeom prst="rect">
            <a:avLst/>
          </a:prstGeom>
          <a:noFill/>
          <a:ln/>
        </p:spPr>
        <p:txBody>
          <a:bodyPr wrap="square" rtlCol="0" anchor="ctr"/>
          <a:lstStyle/>
          <a:p>
            <a:pPr indent="0" marL="0">
              <a:buNone/>
            </a:pPr>
            <a:r>
              <a:rPr lang="en-US" sz="950"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Axios (HTTP client)</a:t>
            </a:r>
            <a:endParaRPr lang="en-US" sz="950" dirty="0"/>
          </a:p>
        </p:txBody>
      </p:sp>
      <p:sp>
        <p:nvSpPr>
          <p:cNvPr id="20" name="Text 18"/>
          <p:cNvSpPr/>
          <p:nvPr/>
        </p:nvSpPr>
        <p:spPr>
          <a:xfrm>
            <a:off x="2743200" y="3200400"/>
            <a:ext cx="1874520" cy="438912"/>
          </a:xfrm>
          <a:prstGeom prst="rect">
            <a:avLst/>
          </a:prstGeom>
          <a:noFill/>
          <a:ln/>
        </p:spPr>
        <p:txBody>
          <a:bodyPr wrap="square" rtlCol="0" anchor="ctr"/>
          <a:lstStyle/>
          <a:p>
            <a:pPr indent="0" marL="0">
              <a:buNone/>
            </a:pPr>
            <a:r>
              <a:rPr lang="en-US" sz="950" dirty="0">
                <a:solidFill>
                  <a:srgbClr val="FF8F00"/>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ENV-based API key management</a:t>
            </a:r>
            <a:endParaRPr lang="en-US" sz="950" dirty="0"/>
          </a:p>
        </p:txBody>
      </p:sp>
      <p:sp>
        <p:nvSpPr>
          <p:cNvPr id="21" name="Shape 19"/>
          <p:cNvSpPr/>
          <p:nvPr/>
        </p:nvSpPr>
        <p:spPr>
          <a:xfrm>
            <a:off x="4892040" y="1005840"/>
            <a:ext cx="2057400" cy="3840480"/>
          </a:xfrm>
          <a:prstGeom prst="roundRect">
            <a:avLst>
              <a:gd name="adj" fmla="val 4444"/>
            </a:avLst>
          </a:prstGeom>
          <a:solidFill>
            <a:srgbClr val="1565C0"/>
          </a:solidFill>
          <a:ln/>
          <a:effectLst>
            <a:outerShdw sx="100000" sy="100000" kx="0" ky="0" algn="bl" rotWithShape="0" blurRad="101600" dist="38100" dir="2700000">
              <a:srgbClr val="000000">
                <a:alpha val="12000"/>
              </a:srgbClr>
            </a:outerShdw>
          </a:effectLst>
        </p:spPr>
      </p:sp>
      <p:sp>
        <p:nvSpPr>
          <p:cNvPr id="22" name="Shape 20"/>
          <p:cNvSpPr/>
          <p:nvPr/>
        </p:nvSpPr>
        <p:spPr>
          <a:xfrm>
            <a:off x="4892040" y="1005840"/>
            <a:ext cx="2057400" cy="566928"/>
          </a:xfrm>
          <a:prstGeom prst="roundRect">
            <a:avLst>
              <a:gd name="adj" fmla="val 16129"/>
            </a:avLst>
          </a:prstGeom>
          <a:solidFill>
            <a:srgbClr val="00897B"/>
          </a:solidFill>
          <a:ln w="12700">
            <a:solidFill>
              <a:srgbClr val="00897B"/>
            </a:solidFill>
            <a:prstDash val="solid"/>
          </a:ln>
        </p:spPr>
      </p:sp>
      <p:sp>
        <p:nvSpPr>
          <p:cNvPr id="23" name="Shape 21"/>
          <p:cNvSpPr/>
          <p:nvPr/>
        </p:nvSpPr>
        <p:spPr>
          <a:xfrm>
            <a:off x="4892040" y="1417320"/>
            <a:ext cx="2057400" cy="182880"/>
          </a:xfrm>
          <a:prstGeom prst="rect">
            <a:avLst/>
          </a:prstGeom>
          <a:solidFill>
            <a:srgbClr val="00897B"/>
          </a:solidFill>
          <a:ln w="12700">
            <a:solidFill>
              <a:srgbClr val="00897B"/>
            </a:solidFill>
            <a:prstDash val="solid"/>
          </a:ln>
        </p:spPr>
      </p:sp>
      <p:sp>
        <p:nvSpPr>
          <p:cNvPr id="24" name="Text 22"/>
          <p:cNvSpPr/>
          <p:nvPr/>
        </p:nvSpPr>
        <p:spPr>
          <a:xfrm>
            <a:off x="4983480" y="1060704"/>
            <a:ext cx="1874520" cy="438912"/>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Authentication</a:t>
            </a:r>
            <a:endParaRPr lang="en-US" sz="1300" dirty="0"/>
          </a:p>
        </p:txBody>
      </p:sp>
      <p:sp>
        <p:nvSpPr>
          <p:cNvPr id="25" name="Text 23"/>
          <p:cNvSpPr/>
          <p:nvPr/>
        </p:nvSpPr>
        <p:spPr>
          <a:xfrm>
            <a:off x="4983480" y="1719072"/>
            <a:ext cx="1874520" cy="438912"/>
          </a:xfrm>
          <a:prstGeom prst="rect">
            <a:avLst/>
          </a:prstGeom>
          <a:noFill/>
          <a:ln/>
        </p:spPr>
        <p:txBody>
          <a:bodyPr wrap="square" rtlCol="0" anchor="ctr"/>
          <a:lstStyle/>
          <a:p>
            <a:pPr indent="0" marL="0">
              <a:buNone/>
            </a:pPr>
            <a:r>
              <a:rPr lang="en-US" sz="950"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Firebase Authentication</a:t>
            </a:r>
            <a:endParaRPr lang="en-US" sz="950" dirty="0"/>
          </a:p>
        </p:txBody>
      </p:sp>
      <p:sp>
        <p:nvSpPr>
          <p:cNvPr id="26" name="Text 24"/>
          <p:cNvSpPr/>
          <p:nvPr/>
        </p:nvSpPr>
        <p:spPr>
          <a:xfrm>
            <a:off x="4983480" y="2212848"/>
            <a:ext cx="1874520" cy="438912"/>
          </a:xfrm>
          <a:prstGeom prst="rect">
            <a:avLst/>
          </a:prstGeom>
          <a:noFill/>
          <a:ln/>
        </p:spPr>
        <p:txBody>
          <a:bodyPr wrap="square" rtlCol="0" anchor="ctr"/>
          <a:lstStyle/>
          <a:p>
            <a:pPr indent="0" marL="0">
              <a:buNone/>
            </a:pPr>
            <a:r>
              <a:rPr lang="en-US" sz="950"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Protected Routes (ProtectedRoutes.jsx)</a:t>
            </a:r>
            <a:endParaRPr lang="en-US" sz="950" dirty="0"/>
          </a:p>
        </p:txBody>
      </p:sp>
      <p:sp>
        <p:nvSpPr>
          <p:cNvPr id="27" name="Text 25"/>
          <p:cNvSpPr/>
          <p:nvPr/>
        </p:nvSpPr>
        <p:spPr>
          <a:xfrm>
            <a:off x="4983480" y="2706624"/>
            <a:ext cx="1874520" cy="438912"/>
          </a:xfrm>
          <a:prstGeom prst="rect">
            <a:avLst/>
          </a:prstGeom>
          <a:noFill/>
          <a:ln/>
        </p:spPr>
        <p:txBody>
          <a:bodyPr wrap="square" rtlCol="0" anchor="ctr"/>
          <a:lstStyle/>
          <a:p>
            <a:pPr indent="0" marL="0">
              <a:buNone/>
            </a:pPr>
            <a:r>
              <a:rPr lang="en-US" sz="950"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React Context API (UserContext)</a:t>
            </a:r>
            <a:endParaRPr lang="en-US" sz="950" dirty="0"/>
          </a:p>
        </p:txBody>
      </p:sp>
      <p:sp>
        <p:nvSpPr>
          <p:cNvPr id="28" name="Text 26"/>
          <p:cNvSpPr/>
          <p:nvPr/>
        </p:nvSpPr>
        <p:spPr>
          <a:xfrm>
            <a:off x="4983480" y="3200400"/>
            <a:ext cx="1874520" cy="438912"/>
          </a:xfrm>
          <a:prstGeom prst="rect">
            <a:avLst/>
          </a:prstGeom>
          <a:noFill/>
          <a:ln/>
        </p:spPr>
        <p:txBody>
          <a:bodyPr wrap="square" rtlCol="0" anchor="ctr"/>
          <a:lstStyle/>
          <a:p>
            <a:pPr indent="0" marL="0">
              <a:buNone/>
            </a:pPr>
            <a:r>
              <a:rPr lang="en-US" sz="950" dirty="0">
                <a:solidFill>
                  <a:srgbClr val="00897B"/>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JWT token via localStorage for session</a:t>
            </a:r>
            <a:endParaRPr lang="en-US" sz="950" dirty="0"/>
          </a:p>
        </p:txBody>
      </p:sp>
      <p:sp>
        <p:nvSpPr>
          <p:cNvPr id="29" name="Shape 27"/>
          <p:cNvSpPr/>
          <p:nvPr/>
        </p:nvSpPr>
        <p:spPr>
          <a:xfrm>
            <a:off x="6903720" y="1005840"/>
            <a:ext cx="1920240" cy="3840480"/>
          </a:xfrm>
          <a:prstGeom prst="roundRect">
            <a:avLst>
              <a:gd name="adj" fmla="val 4762"/>
            </a:avLst>
          </a:prstGeom>
          <a:solidFill>
            <a:srgbClr val="1565C0"/>
          </a:solidFill>
          <a:ln/>
          <a:effectLst>
            <a:outerShdw sx="100000" sy="100000" kx="0" ky="0" algn="bl" rotWithShape="0" blurRad="101600" dist="38100" dir="2700000">
              <a:srgbClr val="000000">
                <a:alpha val="12000"/>
              </a:srgbClr>
            </a:outerShdw>
          </a:effectLst>
        </p:spPr>
      </p:sp>
      <p:sp>
        <p:nvSpPr>
          <p:cNvPr id="30" name="Shape 28"/>
          <p:cNvSpPr/>
          <p:nvPr/>
        </p:nvSpPr>
        <p:spPr>
          <a:xfrm>
            <a:off x="6903720" y="1005840"/>
            <a:ext cx="1920240" cy="566928"/>
          </a:xfrm>
          <a:prstGeom prst="roundRect">
            <a:avLst>
              <a:gd name="adj" fmla="val 16129"/>
            </a:avLst>
          </a:prstGeom>
          <a:solidFill>
            <a:srgbClr val="AB47BC"/>
          </a:solidFill>
          <a:ln w="12700">
            <a:solidFill>
              <a:srgbClr val="AB47BC"/>
            </a:solidFill>
            <a:prstDash val="solid"/>
          </a:ln>
        </p:spPr>
      </p:sp>
      <p:sp>
        <p:nvSpPr>
          <p:cNvPr id="31" name="Shape 29"/>
          <p:cNvSpPr/>
          <p:nvPr/>
        </p:nvSpPr>
        <p:spPr>
          <a:xfrm>
            <a:off x="6903720" y="1417320"/>
            <a:ext cx="1920240" cy="182880"/>
          </a:xfrm>
          <a:prstGeom prst="rect">
            <a:avLst/>
          </a:prstGeom>
          <a:solidFill>
            <a:srgbClr val="AB47BC"/>
          </a:solidFill>
          <a:ln w="12700">
            <a:solidFill>
              <a:srgbClr val="AB47BC"/>
            </a:solidFill>
            <a:prstDash val="solid"/>
          </a:ln>
        </p:spPr>
      </p:sp>
      <p:sp>
        <p:nvSpPr>
          <p:cNvPr id="32" name="Text 30"/>
          <p:cNvSpPr/>
          <p:nvPr/>
        </p:nvSpPr>
        <p:spPr>
          <a:xfrm>
            <a:off x="6995160" y="1060704"/>
            <a:ext cx="1737360" cy="438912"/>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Forms &amp; Validation</a:t>
            </a:r>
            <a:endParaRPr lang="en-US" sz="1300" dirty="0"/>
          </a:p>
        </p:txBody>
      </p:sp>
      <p:sp>
        <p:nvSpPr>
          <p:cNvPr id="33" name="Text 31"/>
          <p:cNvSpPr/>
          <p:nvPr/>
        </p:nvSpPr>
        <p:spPr>
          <a:xfrm>
            <a:off x="6995160" y="1719072"/>
            <a:ext cx="1737360" cy="438912"/>
          </a:xfrm>
          <a:prstGeom prst="rect">
            <a:avLst/>
          </a:prstGeom>
          <a:noFill/>
          <a:ln/>
        </p:spPr>
        <p:txBody>
          <a:bodyPr wrap="square" rtlCol="0" anchor="ctr"/>
          <a:lstStyle/>
          <a:p>
            <a:pPr indent="0" marL="0">
              <a:buNone/>
            </a:pPr>
            <a:r>
              <a:rPr lang="en-US" sz="950" dirty="0">
                <a:solidFill>
                  <a:srgbClr val="AB47BC"/>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Formik (form state)</a:t>
            </a:r>
            <a:endParaRPr lang="en-US" sz="950" dirty="0"/>
          </a:p>
        </p:txBody>
      </p:sp>
      <p:sp>
        <p:nvSpPr>
          <p:cNvPr id="34" name="Text 32"/>
          <p:cNvSpPr/>
          <p:nvPr/>
        </p:nvSpPr>
        <p:spPr>
          <a:xfrm>
            <a:off x="6995160" y="2212848"/>
            <a:ext cx="1737360" cy="438912"/>
          </a:xfrm>
          <a:prstGeom prst="rect">
            <a:avLst/>
          </a:prstGeom>
          <a:noFill/>
          <a:ln/>
        </p:spPr>
        <p:txBody>
          <a:bodyPr wrap="square" rtlCol="0" anchor="ctr"/>
          <a:lstStyle/>
          <a:p>
            <a:pPr indent="0" marL="0">
              <a:buNone/>
            </a:pPr>
            <a:r>
              <a:rPr lang="en-US" sz="950" dirty="0">
                <a:solidFill>
                  <a:srgbClr val="AB47BC"/>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Yup (schema validation)</a:t>
            </a:r>
            <a:endParaRPr lang="en-US" sz="950" dirty="0"/>
          </a:p>
        </p:txBody>
      </p:sp>
      <p:sp>
        <p:nvSpPr>
          <p:cNvPr id="35" name="Text 33"/>
          <p:cNvSpPr/>
          <p:nvPr/>
        </p:nvSpPr>
        <p:spPr>
          <a:xfrm>
            <a:off x="6995160" y="2706624"/>
            <a:ext cx="1737360" cy="438912"/>
          </a:xfrm>
          <a:prstGeom prst="rect">
            <a:avLst/>
          </a:prstGeom>
          <a:noFill/>
          <a:ln/>
        </p:spPr>
        <p:txBody>
          <a:bodyPr wrap="square" rtlCol="0" anchor="ctr"/>
          <a:lstStyle/>
          <a:p>
            <a:pPr indent="0" marL="0">
              <a:buNone/>
            </a:pPr>
            <a:r>
              <a:rPr lang="en-US" sz="950" dirty="0">
                <a:solidFill>
                  <a:srgbClr val="AB47BC"/>
                </a:solidFill>
                <a:latin typeface="Calibri" pitchFamily="34" charset="0"/>
                <a:ea typeface="Calibri" pitchFamily="34" charset="-122"/>
                <a:cs typeface="Calibri" pitchFamily="34" charset="-120"/>
              </a:rPr>
              <a:t xml:space="preserve">▸  </a:t>
            </a:r>
            <a:pPr indent="0" marL="0">
              <a:buNone/>
            </a:pPr>
            <a:r>
              <a:rPr lang="en-US" sz="950" dirty="0">
                <a:solidFill>
                  <a:srgbClr val="E3F2FD"/>
                </a:solidFill>
                <a:latin typeface="Calibri" pitchFamily="34" charset="0"/>
                <a:ea typeface="Calibri" pitchFamily="34" charset="-122"/>
                <a:cs typeface="Calibri" pitchFamily="34" charset="-120"/>
              </a:rPr>
              <a:t>React Toastify (notifications)</a:t>
            </a:r>
            <a:endParaRPr lang="en-US" sz="950" dirty="0"/>
          </a:p>
        </p:txBody>
      </p:sp>
      <p:sp>
        <p:nvSpPr>
          <p:cNvPr id="36" name="Shape 34"/>
          <p:cNvSpPr/>
          <p:nvPr/>
        </p:nvSpPr>
        <p:spPr>
          <a:xfrm>
            <a:off x="411480" y="4663440"/>
            <a:ext cx="8321040" cy="347472"/>
          </a:xfrm>
          <a:prstGeom prst="roundRect">
            <a:avLst>
              <a:gd name="adj" fmla="val 18421"/>
            </a:avLst>
          </a:prstGeom>
          <a:solidFill>
            <a:srgbClr val="1565C0"/>
          </a:solidFill>
          <a:ln/>
        </p:spPr>
      </p:sp>
      <p:sp>
        <p:nvSpPr>
          <p:cNvPr id="37" name="Text 35"/>
          <p:cNvSpPr/>
          <p:nvPr/>
        </p:nvSpPr>
        <p:spPr>
          <a:xfrm>
            <a:off x="502920" y="4700016"/>
            <a:ext cx="8229600" cy="274320"/>
          </a:xfrm>
          <a:prstGeom prst="rect">
            <a:avLst/>
          </a:prstGeom>
          <a:noFill/>
          <a:ln/>
        </p:spPr>
        <p:txBody>
          <a:bodyPr wrap="square" rtlCol="0" anchor="ctr"/>
          <a:lstStyle/>
          <a:p>
            <a:pPr algn="ctr" indent="0" marL="0">
              <a:buNone/>
            </a:pPr>
            <a:r>
              <a:rPr lang="en-US" sz="1000" dirty="0">
                <a:solidFill>
                  <a:srgbClr val="E3F2FD"/>
                </a:solidFill>
                <a:latin typeface="Calibri" pitchFamily="34" charset="0"/>
                <a:ea typeface="Calibri" pitchFamily="34" charset="-122"/>
                <a:cs typeface="Calibri" pitchFamily="34" charset="-120"/>
              </a:rPr>
              <a:t>State Management: React Context API — UserContext (auth state) · TripsContext (booked trips)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0D2B4E"/>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411480" y="914400"/>
            <a:ext cx="4023360" cy="1828800"/>
          </a:xfrm>
          <a:prstGeom prst="roundRect">
            <a:avLst>
              <a:gd name="adj" fmla="val 5000"/>
            </a:avLst>
          </a:prstGeom>
          <a:solidFill>
            <a:srgbClr val="FFFFFF"/>
          </a:solidFill>
          <a:ln/>
          <a:effectLst>
            <a:outerShdw sx="100000" sy="100000" kx="0" ky="0" algn="bl" rotWithShape="0" blurRad="101600" dist="38100" dir="2700000">
              <a:srgbClr val="000000">
                <a:alpha val="12000"/>
              </a:srgbClr>
            </a:outerShdw>
          </a:effectLst>
        </p:spPr>
      </p:sp>
      <p:sp>
        <p:nvSpPr>
          <p:cNvPr id="4" name="Text 2"/>
          <p:cNvSpPr/>
          <p:nvPr/>
        </p:nvSpPr>
        <p:spPr>
          <a:xfrm>
            <a:off x="594360" y="987552"/>
            <a:ext cx="3657600" cy="384048"/>
          </a:xfrm>
          <a:prstGeom prst="rect">
            <a:avLst/>
          </a:prstGeom>
          <a:noFill/>
          <a:ln/>
        </p:spPr>
        <p:txBody>
          <a:bodyPr wrap="square" rtlCol="0" anchor="ctr"/>
          <a:lstStyle/>
          <a:p>
            <a:pPr indent="0" marL="0">
              <a:buNone/>
            </a:pPr>
            <a:r>
              <a:rPr lang="en-US" sz="1400" b="1" dirty="0">
                <a:solidFill>
                  <a:srgbClr val="0D2B4E"/>
                </a:solidFill>
                <a:latin typeface="Cambria" pitchFamily="34" charset="0"/>
                <a:ea typeface="Cambria" pitchFamily="34" charset="-122"/>
                <a:cs typeface="Cambria" pitchFamily="34" charset="-120"/>
              </a:rPr>
              <a:t>What It Accomplishes</a:t>
            </a:r>
            <a:endParaRPr lang="en-US" sz="1400" dirty="0"/>
          </a:p>
        </p:txBody>
      </p:sp>
      <p:sp>
        <p:nvSpPr>
          <p:cNvPr id="5" name="Text 3"/>
          <p:cNvSpPr/>
          <p:nvPr/>
        </p:nvSpPr>
        <p:spPr>
          <a:xfrm>
            <a:off x="594360" y="1426464"/>
            <a:ext cx="3657600" cy="29260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End-to-end travel planning without switching apps</a:t>
            </a:r>
            <a:endParaRPr lang="en-US" sz="1050" dirty="0"/>
          </a:p>
        </p:txBody>
      </p:sp>
      <p:sp>
        <p:nvSpPr>
          <p:cNvPr id="6" name="Text 4"/>
          <p:cNvSpPr/>
          <p:nvPr/>
        </p:nvSpPr>
        <p:spPr>
          <a:xfrm>
            <a:off x="594360" y="1755648"/>
            <a:ext cx="3657600" cy="29260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AI-generated personalized itineraries via Gemini</a:t>
            </a:r>
            <a:endParaRPr lang="en-US" sz="1050" dirty="0"/>
          </a:p>
        </p:txBody>
      </p:sp>
      <p:sp>
        <p:nvSpPr>
          <p:cNvPr id="7" name="Text 5"/>
          <p:cNvSpPr/>
          <p:nvPr/>
        </p:nvSpPr>
        <p:spPr>
          <a:xfrm>
            <a:off x="594360" y="2084832"/>
            <a:ext cx="3657600" cy="29260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Real-time live flight data integrated via RapidAPI</a:t>
            </a:r>
            <a:endParaRPr lang="en-US" sz="1050" dirty="0"/>
          </a:p>
        </p:txBody>
      </p:sp>
      <p:sp>
        <p:nvSpPr>
          <p:cNvPr id="8" name="Text 6"/>
          <p:cNvSpPr/>
          <p:nvPr/>
        </p:nvSpPr>
        <p:spPr>
          <a:xfrm>
            <a:off x="594360" y="2414016"/>
            <a:ext cx="3657600" cy="29260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Full trip lifecycle: save → book → track → review</a:t>
            </a:r>
            <a:endParaRPr lang="en-US" sz="1050" dirty="0"/>
          </a:p>
        </p:txBody>
      </p:sp>
      <p:sp>
        <p:nvSpPr>
          <p:cNvPr id="9" name="Shape 7"/>
          <p:cNvSpPr/>
          <p:nvPr/>
        </p:nvSpPr>
        <p:spPr>
          <a:xfrm>
            <a:off x="4709160" y="914400"/>
            <a:ext cx="4023360" cy="1828800"/>
          </a:xfrm>
          <a:prstGeom prst="roundRect">
            <a:avLst>
              <a:gd name="adj" fmla="val 5000"/>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4892040" y="987552"/>
            <a:ext cx="3657600" cy="384048"/>
          </a:xfrm>
          <a:prstGeom prst="rect">
            <a:avLst/>
          </a:prstGeom>
          <a:noFill/>
          <a:ln/>
        </p:spPr>
        <p:txBody>
          <a:bodyPr wrap="square" rtlCol="0" anchor="ctr"/>
          <a:lstStyle/>
          <a:p>
            <a:pPr indent="0" marL="0">
              <a:buNone/>
            </a:pPr>
            <a:r>
              <a:rPr lang="en-US" sz="1400" b="1" dirty="0">
                <a:solidFill>
                  <a:srgbClr val="00897B"/>
                </a:solidFill>
                <a:latin typeface="Cambria" pitchFamily="34" charset="0"/>
                <a:ea typeface="Cambria" pitchFamily="34" charset="-122"/>
                <a:cs typeface="Cambria" pitchFamily="34" charset="-120"/>
              </a:rPr>
              <a:t>Strongest Aspects</a:t>
            </a:r>
            <a:endParaRPr lang="en-US" sz="1400" dirty="0"/>
          </a:p>
        </p:txBody>
      </p:sp>
      <p:sp>
        <p:nvSpPr>
          <p:cNvPr id="11" name="Text 9"/>
          <p:cNvSpPr/>
          <p:nvPr/>
        </p:nvSpPr>
        <p:spPr>
          <a:xfrm>
            <a:off x="4892040" y="1426464"/>
            <a:ext cx="3657600" cy="29260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Gemini AI integration for natural language planning</a:t>
            </a:r>
            <a:endParaRPr lang="en-US" sz="1050" dirty="0"/>
          </a:p>
        </p:txBody>
      </p:sp>
      <p:sp>
        <p:nvSpPr>
          <p:cNvPr id="12" name="Text 10"/>
          <p:cNvSpPr/>
          <p:nvPr/>
        </p:nvSpPr>
        <p:spPr>
          <a:xfrm>
            <a:off x="4892040" y="1755648"/>
            <a:ext cx="3657600" cy="29260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Gemini AI integration for structured destination &amp; itinerary data</a:t>
            </a:r>
            <a:endParaRPr lang="en-US" sz="1050" dirty="0"/>
          </a:p>
        </p:txBody>
      </p:sp>
      <p:sp>
        <p:nvSpPr>
          <p:cNvPr id="13" name="Text 11"/>
          <p:cNvSpPr/>
          <p:nvPr/>
        </p:nvSpPr>
        <p:spPr>
          <a:xfrm>
            <a:off x="4892040" y="2084832"/>
            <a:ext cx="3657600" cy="29260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Pure frontend architecture built entirely with React</a:t>
            </a:r>
            <a:endParaRPr lang="en-US" sz="1050" dirty="0"/>
          </a:p>
        </p:txBody>
      </p:sp>
      <p:sp>
        <p:nvSpPr>
          <p:cNvPr id="14" name="Text 12"/>
          <p:cNvSpPr/>
          <p:nvPr/>
        </p:nvSpPr>
        <p:spPr>
          <a:xfrm>
            <a:off x="4892040" y="2414016"/>
            <a:ext cx="3657600" cy="292608"/>
          </a:xfrm>
          <a:prstGeom prst="rect">
            <a:avLst/>
          </a:prstGeom>
          <a:noFill/>
          <a:ln/>
        </p:spPr>
        <p:txBody>
          <a:bodyPr wrap="square" rtlCol="0" anchor="ctr"/>
          <a:lstStyle/>
          <a:p>
            <a:pPr indent="0" marL="0">
              <a:buNone/>
            </a:pPr>
            <a:r>
              <a:rPr lang="en-US" sz="1050" b="1" dirty="0">
                <a:solidFill>
                  <a:srgbClr val="00897B"/>
                </a:solidFill>
                <a:latin typeface="Calibri" pitchFamily="34" charset="0"/>
                <a:ea typeface="Calibri" pitchFamily="34" charset="-122"/>
                <a:cs typeface="Calibri" pitchFamily="34" charset="-120"/>
              </a:rPr>
              <a:t xml:space="preserve">★  </a:t>
            </a:r>
            <a:pPr indent="0" marL="0">
              <a:buNone/>
            </a:pPr>
            <a:r>
              <a:rPr lang="en-US" sz="1050" dirty="0">
                <a:solidFill>
                  <a:srgbClr val="37474F"/>
                </a:solidFill>
                <a:latin typeface="Calibri" pitchFamily="34" charset="0"/>
                <a:ea typeface="Calibri" pitchFamily="34" charset="-122"/>
                <a:cs typeface="Calibri" pitchFamily="34" charset="-120"/>
              </a:rPr>
              <a:t>Protected routes + Firebase Auth login security model</a:t>
            </a:r>
            <a:endParaRPr lang="en-US" sz="1050" dirty="0"/>
          </a:p>
        </p:txBody>
      </p:sp>
      <p:sp>
        <p:nvSpPr>
          <p:cNvPr id="15" name="Shape 13"/>
          <p:cNvSpPr/>
          <p:nvPr/>
        </p:nvSpPr>
        <p:spPr>
          <a:xfrm>
            <a:off x="411480" y="2880360"/>
            <a:ext cx="8321040" cy="1965960"/>
          </a:xfrm>
          <a:prstGeom prst="roundRect">
            <a:avLst>
              <a:gd name="adj" fmla="val 4651"/>
            </a:avLst>
          </a:prstGeom>
          <a:solidFill>
            <a:srgbClr val="0D2B4E"/>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2971800"/>
            <a:ext cx="7955280" cy="384048"/>
          </a:xfrm>
          <a:prstGeom prst="rect">
            <a:avLst/>
          </a:prstGeom>
          <a:noFill/>
          <a:ln/>
        </p:spPr>
        <p:txBody>
          <a:bodyPr wrap="square" rtlCol="0" anchor="ctr"/>
          <a:lstStyle/>
          <a:p>
            <a:pPr indent="0" marL="0">
              <a:buNone/>
            </a:pPr>
            <a:r>
              <a:rPr lang="en-US" sz="1400" b="1" dirty="0">
                <a:solidFill>
                  <a:srgbClr val="FF8F00"/>
                </a:solidFill>
                <a:latin typeface="Cambria" pitchFamily="34" charset="0"/>
                <a:ea typeface="Cambria" pitchFamily="34" charset="-122"/>
                <a:cs typeface="Cambria" pitchFamily="34" charset="-120"/>
              </a:rPr>
              <a:t>Potential Future Improvements</a:t>
            </a:r>
            <a:endParaRPr lang="en-US" sz="1400" dirty="0"/>
          </a:p>
        </p:txBody>
      </p:sp>
      <p:sp>
        <p:nvSpPr>
          <p:cNvPr id="17" name="Text 15"/>
          <p:cNvSpPr/>
          <p:nvPr/>
        </p:nvSpPr>
        <p:spPr>
          <a:xfrm>
            <a:off x="594360" y="3401568"/>
            <a:ext cx="3931920" cy="384048"/>
          </a:xfrm>
          <a:prstGeom prst="rect">
            <a:avLst/>
          </a:prstGeom>
          <a:noFill/>
          <a:ln/>
        </p:spPr>
        <p:txBody>
          <a:bodyPr wrap="square" rtlCol="0" anchor="ctr"/>
          <a:lstStyle/>
          <a:p>
            <a:pPr indent="0" marL="0">
              <a:buNone/>
            </a:pPr>
            <a:r>
              <a:rPr lang="en-US" sz="1050"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Round-trip flight search via RapidAPI flights-sky</a:t>
            </a:r>
            <a:endParaRPr lang="en-US" sz="1050" dirty="0"/>
          </a:p>
        </p:txBody>
      </p:sp>
      <p:sp>
        <p:nvSpPr>
          <p:cNvPr id="18" name="Text 16"/>
          <p:cNvSpPr/>
          <p:nvPr/>
        </p:nvSpPr>
        <p:spPr>
          <a:xfrm>
            <a:off x="4709160" y="3401568"/>
            <a:ext cx="3931920" cy="384048"/>
          </a:xfrm>
          <a:prstGeom prst="rect">
            <a:avLst/>
          </a:prstGeom>
          <a:noFill/>
          <a:ln/>
        </p:spPr>
        <p:txBody>
          <a:bodyPr wrap="square" rtlCol="0" anchor="ctr"/>
          <a:lstStyle/>
          <a:p>
            <a:pPr indent="0" marL="0">
              <a:buNone/>
            </a:pPr>
            <a:r>
              <a:rPr lang="en-US" sz="1050"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Weather forecast widget per destination</a:t>
            </a:r>
            <a:endParaRPr lang="en-US" sz="1050" dirty="0"/>
          </a:p>
        </p:txBody>
      </p:sp>
      <p:sp>
        <p:nvSpPr>
          <p:cNvPr id="19" name="Text 17"/>
          <p:cNvSpPr/>
          <p:nvPr/>
        </p:nvSpPr>
        <p:spPr>
          <a:xfrm>
            <a:off x="594360" y="3822192"/>
            <a:ext cx="3931920" cy="384048"/>
          </a:xfrm>
          <a:prstGeom prst="rect">
            <a:avLst/>
          </a:prstGeom>
          <a:noFill/>
          <a:ln/>
        </p:spPr>
        <p:txBody>
          <a:bodyPr wrap="square" rtlCol="0" anchor="ctr"/>
          <a:lstStyle/>
          <a:p>
            <a:pPr indent="0" marL="0">
              <a:buNone/>
            </a:pPr>
            <a:r>
              <a:rPr lang="en-US" sz="1050"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Collaborative trip planning (invite friends / share itineraries)</a:t>
            </a:r>
            <a:endParaRPr lang="en-US" sz="1050" dirty="0"/>
          </a:p>
        </p:txBody>
      </p:sp>
      <p:sp>
        <p:nvSpPr>
          <p:cNvPr id="20" name="Text 18"/>
          <p:cNvSpPr/>
          <p:nvPr/>
        </p:nvSpPr>
        <p:spPr>
          <a:xfrm>
            <a:off x="4709160" y="3822192"/>
            <a:ext cx="3931920" cy="384048"/>
          </a:xfrm>
          <a:prstGeom prst="rect">
            <a:avLst/>
          </a:prstGeom>
          <a:noFill/>
          <a:ln/>
        </p:spPr>
        <p:txBody>
          <a:bodyPr wrap="square" rtlCol="0" anchor="ctr"/>
          <a:lstStyle/>
          <a:p>
            <a:pPr indent="0" marL="0">
              <a:buNone/>
            </a:pPr>
            <a:r>
              <a:rPr lang="en-US" sz="1050"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Interactive map view using Google Maps or Mapbox</a:t>
            </a:r>
            <a:endParaRPr lang="en-US" sz="1050" dirty="0"/>
          </a:p>
        </p:txBody>
      </p:sp>
      <p:sp>
        <p:nvSpPr>
          <p:cNvPr id="21" name="Text 19"/>
          <p:cNvSpPr/>
          <p:nvPr/>
        </p:nvSpPr>
        <p:spPr>
          <a:xfrm>
            <a:off x="594360" y="4242816"/>
            <a:ext cx="3931920" cy="384048"/>
          </a:xfrm>
          <a:prstGeom prst="rect">
            <a:avLst/>
          </a:prstGeom>
          <a:noFill/>
          <a:ln/>
        </p:spPr>
        <p:txBody>
          <a:bodyPr wrap="square" rtlCol="0" anchor="ctr"/>
          <a:lstStyle/>
          <a:p>
            <a:pPr indent="0" marL="0">
              <a:buNone/>
            </a:pPr>
            <a:r>
              <a:rPr lang="en-US" sz="1050"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Budget tracker and expense sharing module</a:t>
            </a:r>
            <a:endParaRPr lang="en-US" sz="1050" dirty="0"/>
          </a:p>
        </p:txBody>
      </p:sp>
      <p:sp>
        <p:nvSpPr>
          <p:cNvPr id="22" name="Text 20"/>
          <p:cNvSpPr/>
          <p:nvPr/>
        </p:nvSpPr>
        <p:spPr>
          <a:xfrm>
            <a:off x="4709160" y="4242816"/>
            <a:ext cx="3931920" cy="384048"/>
          </a:xfrm>
          <a:prstGeom prst="rect">
            <a:avLst/>
          </a:prstGeom>
          <a:noFill/>
          <a:ln/>
        </p:spPr>
        <p:txBody>
          <a:bodyPr wrap="square" rtlCol="0" anchor="ctr"/>
          <a:lstStyle/>
          <a:p>
            <a:pPr indent="0" marL="0">
              <a:buNone/>
            </a:pPr>
            <a:r>
              <a:rPr lang="en-US" sz="1050" dirty="0">
                <a:solidFill>
                  <a:srgbClr val="FF8F00"/>
                </a:solidFill>
                <a:latin typeface="Calibri" pitchFamily="34" charset="0"/>
                <a:ea typeface="Calibri" pitchFamily="34" charset="-122"/>
                <a:cs typeface="Calibri" pitchFamily="34" charset="-120"/>
              </a:rPr>
              <a:t xml:space="preserve">→  </a:t>
            </a:r>
            <a:pPr indent="0" marL="0">
              <a:buNone/>
            </a:pPr>
            <a:r>
              <a:rPr lang="en-US" sz="1050" dirty="0">
                <a:solidFill>
                  <a:srgbClr val="E3F2FD"/>
                </a:solidFill>
                <a:latin typeface="Calibri" pitchFamily="34" charset="0"/>
                <a:ea typeface="Calibri" pitchFamily="34" charset="-122"/>
                <a:cs typeface="Calibri" pitchFamily="34" charset="-120"/>
              </a:rPr>
              <a:t>Mobile app (React Native) for on-the-go access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1371600" y="2743200"/>
            <a:ext cx="4572000" cy="4572000"/>
          </a:xfrm>
          <a:prstGeom prst="ellipse">
            <a:avLst/>
          </a:prstGeom>
          <a:solidFill>
            <a:srgbClr val="1565C0">
              <a:alpha val="25000"/>
            </a:srgbClr>
          </a:solidFill>
          <a:ln w="12700">
            <a:solidFill>
              <a:srgbClr val="1565C0">
                <a:alpha val="25000"/>
              </a:srgbClr>
            </a:solidFill>
            <a:prstDash val="solid"/>
          </a:ln>
        </p:spPr>
      </p:sp>
      <p:sp>
        <p:nvSpPr>
          <p:cNvPr id="3" name="Shape 1"/>
          <p:cNvSpPr/>
          <p:nvPr/>
        </p:nvSpPr>
        <p:spPr>
          <a:xfrm>
            <a:off x="6400800" y="-914400"/>
            <a:ext cx="4572000" cy="4572000"/>
          </a:xfrm>
          <a:prstGeom prst="ellipse">
            <a:avLst/>
          </a:prstGeom>
          <a:solidFill>
            <a:srgbClr val="1E88E5">
              <a:alpha val="20000"/>
            </a:srgbClr>
          </a:solidFill>
          <a:ln w="12700">
            <a:solidFill>
              <a:srgbClr val="1E88E5">
                <a:alpha val="20000"/>
              </a:srgbClr>
            </a:solidFill>
            <a:prstDash val="solid"/>
          </a:ln>
        </p:spPr>
      </p:sp>
      <p:pic>
        <p:nvPicPr>
          <p:cNvPr id="4" name="Image 0" descr="preencoded.png"/>
          <p:cNvPicPr>
            <a:picLocks noChangeAspect="1"/>
          </p:cNvPicPr>
          <p:nvPr/>
        </p:nvPicPr>
        <p:blipFill>
          <a:blip r:embed="rId1"/>
          <a:stretch>
            <a:fillRect/>
          </a:stretch>
        </p:blipFill>
        <p:spPr>
          <a:xfrm>
            <a:off x="3931920" y="182880"/>
            <a:ext cx="1097280" cy="1097280"/>
          </a:xfrm>
          <a:prstGeom prst="rect">
            <a:avLst/>
          </a:prstGeom>
        </p:spPr>
      </p:pic>
      <p:sp>
        <p:nvSpPr>
          <p:cNvPr id="5" name="Text 2"/>
          <p:cNvSpPr/>
          <p:nvPr/>
        </p:nvSpPr>
        <p:spPr>
          <a:xfrm>
            <a:off x="457200" y="1325880"/>
            <a:ext cx="8229600" cy="59436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Travel Planner</a:t>
            </a:r>
            <a:endParaRPr lang="en-US" sz="2800" dirty="0"/>
          </a:p>
        </p:txBody>
      </p:sp>
      <p:sp>
        <p:nvSpPr>
          <p:cNvPr id="6" name="Text 3"/>
          <p:cNvSpPr/>
          <p:nvPr/>
        </p:nvSpPr>
        <p:spPr>
          <a:xfrm>
            <a:off x="457200" y="1874520"/>
            <a:ext cx="8229600" cy="411480"/>
          </a:xfrm>
          <a:prstGeom prst="rect">
            <a:avLst/>
          </a:prstGeom>
          <a:noFill/>
          <a:ln/>
        </p:spPr>
        <p:txBody>
          <a:bodyPr wrap="square" rtlCol="0" anchor="ctr"/>
          <a:lstStyle/>
          <a:p>
            <a:pPr algn="ctr" indent="0" marL="0">
              <a:buNone/>
            </a:pPr>
            <a:r>
              <a:rPr lang="en-US" sz="1600" i="1" dirty="0">
                <a:solidFill>
                  <a:srgbClr val="FF8F00"/>
                </a:solidFill>
                <a:latin typeface="Calibri" pitchFamily="34" charset="0"/>
                <a:ea typeface="Calibri" pitchFamily="34" charset="-122"/>
                <a:cs typeface="Calibri" pitchFamily="34" charset="-120"/>
              </a:rPr>
              <a:t>Development Team</a:t>
            </a:r>
            <a:endParaRPr lang="en-US" sz="1600" dirty="0"/>
          </a:p>
        </p:txBody>
      </p:sp>
      <p:sp>
        <p:nvSpPr>
          <p:cNvPr id="7" name="Shape 4"/>
          <p:cNvSpPr/>
          <p:nvPr/>
        </p:nvSpPr>
        <p:spPr>
          <a:xfrm>
            <a:off x="914400" y="2423160"/>
            <a:ext cx="3657600" cy="457200"/>
          </a:xfrm>
          <a:prstGeom prst="roundRect">
            <a:avLst>
              <a:gd name="adj" fmla="val 16000"/>
            </a:avLst>
          </a:prstGeom>
          <a:solidFill>
            <a:srgbClr val="1565C0"/>
          </a:solidFill>
          <a:ln/>
          <a:effectLst>
            <a:outerShdw sx="100000" sy="100000" kx="0" ky="0" algn="bl" rotWithShape="0" blurRad="101600" dist="38100" dir="2700000">
              <a:srgbClr val="000000">
                <a:alpha val="12000"/>
              </a:srgbClr>
            </a:outerShdw>
          </a:effectLst>
        </p:spPr>
      </p:sp>
      <p:sp>
        <p:nvSpPr>
          <p:cNvPr id="8" name="Shape 5"/>
          <p:cNvSpPr/>
          <p:nvPr/>
        </p:nvSpPr>
        <p:spPr>
          <a:xfrm>
            <a:off x="1024128" y="2578608"/>
            <a:ext cx="146304" cy="146304"/>
          </a:xfrm>
          <a:prstGeom prst="ellipse">
            <a:avLst/>
          </a:prstGeom>
          <a:solidFill>
            <a:srgbClr val="FF8F00"/>
          </a:solidFill>
          <a:ln w="12700">
            <a:solidFill>
              <a:srgbClr val="FF8F00"/>
            </a:solidFill>
            <a:prstDash val="solid"/>
          </a:ln>
        </p:spPr>
      </p:sp>
      <p:sp>
        <p:nvSpPr>
          <p:cNvPr id="9" name="Text 6"/>
          <p:cNvSpPr/>
          <p:nvPr/>
        </p:nvSpPr>
        <p:spPr>
          <a:xfrm>
            <a:off x="1280160" y="2496312"/>
            <a:ext cx="320040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Salma Ahmed Mostafa</a:t>
            </a:r>
            <a:endParaRPr lang="en-US" sz="1150" dirty="0"/>
          </a:p>
        </p:txBody>
      </p:sp>
      <p:sp>
        <p:nvSpPr>
          <p:cNvPr id="10" name="Shape 7"/>
          <p:cNvSpPr/>
          <p:nvPr/>
        </p:nvSpPr>
        <p:spPr>
          <a:xfrm>
            <a:off x="914400" y="2971800"/>
            <a:ext cx="3657600" cy="457200"/>
          </a:xfrm>
          <a:prstGeom prst="roundRect">
            <a:avLst>
              <a:gd name="adj" fmla="val 16000"/>
            </a:avLst>
          </a:prstGeom>
          <a:solidFill>
            <a:srgbClr val="1565C0"/>
          </a:solidFill>
          <a:ln/>
          <a:effectLst>
            <a:outerShdw sx="100000" sy="100000" kx="0" ky="0" algn="bl" rotWithShape="0" blurRad="101600" dist="38100" dir="2700000">
              <a:srgbClr val="000000">
                <a:alpha val="12000"/>
              </a:srgbClr>
            </a:outerShdw>
          </a:effectLst>
        </p:spPr>
      </p:sp>
      <p:sp>
        <p:nvSpPr>
          <p:cNvPr id="11" name="Shape 8"/>
          <p:cNvSpPr/>
          <p:nvPr/>
        </p:nvSpPr>
        <p:spPr>
          <a:xfrm>
            <a:off x="1024128" y="3127248"/>
            <a:ext cx="146304" cy="146304"/>
          </a:xfrm>
          <a:prstGeom prst="ellipse">
            <a:avLst/>
          </a:prstGeom>
          <a:solidFill>
            <a:srgbClr val="FF8F00"/>
          </a:solidFill>
          <a:ln w="12700">
            <a:solidFill>
              <a:srgbClr val="FF8F00"/>
            </a:solidFill>
            <a:prstDash val="solid"/>
          </a:ln>
        </p:spPr>
      </p:sp>
      <p:sp>
        <p:nvSpPr>
          <p:cNvPr id="12" name="Text 9"/>
          <p:cNvSpPr/>
          <p:nvPr/>
        </p:nvSpPr>
        <p:spPr>
          <a:xfrm>
            <a:off x="1280160" y="3044952"/>
            <a:ext cx="320040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Mariam Mamdouh Abdelkader Elzanaty</a:t>
            </a:r>
            <a:endParaRPr lang="en-US" sz="1150" dirty="0"/>
          </a:p>
        </p:txBody>
      </p:sp>
      <p:sp>
        <p:nvSpPr>
          <p:cNvPr id="13" name="Shape 10"/>
          <p:cNvSpPr/>
          <p:nvPr/>
        </p:nvSpPr>
        <p:spPr>
          <a:xfrm>
            <a:off x="914400" y="3520440"/>
            <a:ext cx="3657600" cy="457200"/>
          </a:xfrm>
          <a:prstGeom prst="roundRect">
            <a:avLst>
              <a:gd name="adj" fmla="val 16000"/>
            </a:avLst>
          </a:prstGeom>
          <a:solidFill>
            <a:srgbClr val="1565C0"/>
          </a:solidFill>
          <a:ln/>
          <a:effectLst>
            <a:outerShdw sx="100000" sy="100000" kx="0" ky="0" algn="bl" rotWithShape="0" blurRad="101600" dist="38100" dir="2700000">
              <a:srgbClr val="000000">
                <a:alpha val="12000"/>
              </a:srgbClr>
            </a:outerShdw>
          </a:effectLst>
        </p:spPr>
      </p:sp>
      <p:sp>
        <p:nvSpPr>
          <p:cNvPr id="14" name="Shape 11"/>
          <p:cNvSpPr/>
          <p:nvPr/>
        </p:nvSpPr>
        <p:spPr>
          <a:xfrm>
            <a:off x="1024128" y="3675888"/>
            <a:ext cx="146304" cy="146304"/>
          </a:xfrm>
          <a:prstGeom prst="ellipse">
            <a:avLst/>
          </a:prstGeom>
          <a:solidFill>
            <a:srgbClr val="FF8F00"/>
          </a:solidFill>
          <a:ln w="12700">
            <a:solidFill>
              <a:srgbClr val="FF8F00"/>
            </a:solidFill>
            <a:prstDash val="solid"/>
          </a:ln>
        </p:spPr>
      </p:sp>
      <p:sp>
        <p:nvSpPr>
          <p:cNvPr id="15" name="Text 12"/>
          <p:cNvSpPr/>
          <p:nvPr/>
        </p:nvSpPr>
        <p:spPr>
          <a:xfrm>
            <a:off x="1280160" y="3593592"/>
            <a:ext cx="320040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Mostafa Moheb Aboelmakarim Bauomy</a:t>
            </a:r>
            <a:endParaRPr lang="en-US" sz="1150" dirty="0"/>
          </a:p>
        </p:txBody>
      </p:sp>
      <p:sp>
        <p:nvSpPr>
          <p:cNvPr id="16" name="Shape 13"/>
          <p:cNvSpPr/>
          <p:nvPr/>
        </p:nvSpPr>
        <p:spPr>
          <a:xfrm>
            <a:off x="5029200" y="2423160"/>
            <a:ext cx="3657600" cy="457200"/>
          </a:xfrm>
          <a:prstGeom prst="roundRect">
            <a:avLst>
              <a:gd name="adj" fmla="val 16000"/>
            </a:avLst>
          </a:prstGeom>
          <a:solidFill>
            <a:srgbClr val="1565C0"/>
          </a:solidFill>
          <a:ln/>
          <a:effectLst>
            <a:outerShdw sx="100000" sy="100000" kx="0" ky="0" algn="bl" rotWithShape="0" blurRad="101600" dist="38100" dir="2700000">
              <a:srgbClr val="000000">
                <a:alpha val="12000"/>
              </a:srgbClr>
            </a:outerShdw>
          </a:effectLst>
        </p:spPr>
      </p:sp>
      <p:sp>
        <p:nvSpPr>
          <p:cNvPr id="17" name="Shape 14"/>
          <p:cNvSpPr/>
          <p:nvPr/>
        </p:nvSpPr>
        <p:spPr>
          <a:xfrm>
            <a:off x="5138928" y="2578608"/>
            <a:ext cx="146304" cy="146304"/>
          </a:xfrm>
          <a:prstGeom prst="ellipse">
            <a:avLst/>
          </a:prstGeom>
          <a:solidFill>
            <a:srgbClr val="FF8F00"/>
          </a:solidFill>
          <a:ln w="12700">
            <a:solidFill>
              <a:srgbClr val="FF8F00"/>
            </a:solidFill>
            <a:prstDash val="solid"/>
          </a:ln>
        </p:spPr>
      </p:sp>
      <p:sp>
        <p:nvSpPr>
          <p:cNvPr id="18" name="Text 15"/>
          <p:cNvSpPr/>
          <p:nvPr/>
        </p:nvSpPr>
        <p:spPr>
          <a:xfrm>
            <a:off x="5394960" y="2496312"/>
            <a:ext cx="320040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Abdelrahman Mohammed Ahmed Ali</a:t>
            </a:r>
            <a:endParaRPr lang="en-US" sz="1150" dirty="0"/>
          </a:p>
        </p:txBody>
      </p:sp>
      <p:sp>
        <p:nvSpPr>
          <p:cNvPr id="19" name="Shape 16"/>
          <p:cNvSpPr/>
          <p:nvPr/>
        </p:nvSpPr>
        <p:spPr>
          <a:xfrm>
            <a:off x="5029200" y="2971800"/>
            <a:ext cx="3657600" cy="457200"/>
          </a:xfrm>
          <a:prstGeom prst="roundRect">
            <a:avLst>
              <a:gd name="adj" fmla="val 16000"/>
            </a:avLst>
          </a:prstGeom>
          <a:solidFill>
            <a:srgbClr val="1565C0"/>
          </a:solidFill>
          <a:ln/>
          <a:effectLst>
            <a:outerShdw sx="100000" sy="100000" kx="0" ky="0" algn="bl" rotWithShape="0" blurRad="101600" dist="38100" dir="2700000">
              <a:srgbClr val="000000">
                <a:alpha val="12000"/>
              </a:srgbClr>
            </a:outerShdw>
          </a:effectLst>
        </p:spPr>
      </p:sp>
      <p:sp>
        <p:nvSpPr>
          <p:cNvPr id="20" name="Shape 17"/>
          <p:cNvSpPr/>
          <p:nvPr/>
        </p:nvSpPr>
        <p:spPr>
          <a:xfrm>
            <a:off x="5138928" y="3127248"/>
            <a:ext cx="146304" cy="146304"/>
          </a:xfrm>
          <a:prstGeom prst="ellipse">
            <a:avLst/>
          </a:prstGeom>
          <a:solidFill>
            <a:srgbClr val="FF8F00"/>
          </a:solidFill>
          <a:ln w="12700">
            <a:solidFill>
              <a:srgbClr val="FF8F00"/>
            </a:solidFill>
            <a:prstDash val="solid"/>
          </a:ln>
        </p:spPr>
      </p:sp>
      <p:sp>
        <p:nvSpPr>
          <p:cNvPr id="21" name="Text 18"/>
          <p:cNvSpPr/>
          <p:nvPr/>
        </p:nvSpPr>
        <p:spPr>
          <a:xfrm>
            <a:off x="5394960" y="3044952"/>
            <a:ext cx="320040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Lana Mohamed Elekhnawy</a:t>
            </a:r>
            <a:endParaRPr lang="en-US" sz="1150" dirty="0"/>
          </a:p>
        </p:txBody>
      </p:sp>
      <p:sp>
        <p:nvSpPr>
          <p:cNvPr id="22" name="Shape 19"/>
          <p:cNvSpPr/>
          <p:nvPr/>
        </p:nvSpPr>
        <p:spPr>
          <a:xfrm>
            <a:off x="1371600" y="4434840"/>
            <a:ext cx="6400800" cy="502920"/>
          </a:xfrm>
          <a:prstGeom prst="roundRect">
            <a:avLst>
              <a:gd name="adj" fmla="val 18182"/>
            </a:avLst>
          </a:prstGeom>
          <a:solidFill>
            <a:srgbClr val="FF8F00"/>
          </a:solidFill>
          <a:ln/>
          <a:effectLst>
            <a:outerShdw sx="100000" sy="100000" kx="0" ky="0" algn="bl" rotWithShape="0" blurRad="101600" dist="38100" dir="2700000">
              <a:srgbClr val="000000">
                <a:alpha val="12000"/>
              </a:srgbClr>
            </a:outerShdw>
          </a:effectLst>
        </p:spPr>
      </p:sp>
      <p:sp>
        <p:nvSpPr>
          <p:cNvPr id="23" name="Text 20"/>
          <p:cNvSpPr/>
          <p:nvPr/>
        </p:nvSpPr>
        <p:spPr>
          <a:xfrm>
            <a:off x="1371600" y="4434840"/>
            <a:ext cx="640080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Thank You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2026-06-26T21:51:58Z</dcterms:created>
  <dcterms:modified xsi:type="dcterms:W3CDTF">2026-06-26T21:51:58Z</dcterms:modified>
</cp:coreProperties>
</file>